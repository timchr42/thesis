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"/>
  </p:sldMasterIdLst>
  <p:notesMasterIdLst>
    <p:notesMasterId r:id="rId3"/>
  </p:notesMasterIdLst>
  <p:sldIdLst>
    <p:sldId id="285" r:id="rId2"/>
  </p:sldIdLst>
  <p:sldSz cx="21383625" cy="30275213"/>
  <p:notesSz cx="6858000" cy="9144000"/>
  <p:defaultTextStyle>
    <a:defPPr>
      <a:defRPr lang="de-DE"/>
    </a:defPPr>
    <a:lvl1pPr marL="0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1pPr>
    <a:lvl2pPr marL="1408058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2pPr>
    <a:lvl3pPr marL="2816116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3pPr>
    <a:lvl4pPr marL="4224173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4pPr>
    <a:lvl5pPr marL="5632231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5pPr>
    <a:lvl6pPr marL="7040289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6pPr>
    <a:lvl7pPr marL="8448344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7pPr>
    <a:lvl8pPr marL="9856402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8pPr>
    <a:lvl9pPr marL="11264460" algn="l" defTabSz="2816116" rtl="0" eaLnBrk="1" latinLnBrk="0" hangingPunct="1">
      <a:defRPr sz="55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D1D9"/>
    <a:srgbClr val="343433"/>
    <a:srgbClr val="C8E7E9"/>
    <a:srgbClr val="005A94"/>
    <a:srgbClr val="006298"/>
    <a:srgbClr val="009CC4"/>
    <a:srgbClr val="449C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05" autoAdjust="0"/>
    <p:restoredTop sz="94511" autoAdjust="0"/>
  </p:normalViewPr>
  <p:slideViewPr>
    <p:cSldViewPr snapToObjects="1">
      <p:cViewPr>
        <p:scale>
          <a:sx n="80" d="100"/>
          <a:sy n="80" d="100"/>
        </p:scale>
        <p:origin x="328" y="144"/>
      </p:cViewPr>
      <p:guideLst>
        <p:guide orient="horz" pos="9536"/>
        <p:guide pos="6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78DD3-0AC9-B240-9BDD-56895D5AE142}" type="datetimeFigureOut">
              <a:rPr lang="de-DE" smtClean="0"/>
              <a:t>07.07.25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9B3A61-4214-1A4E-A88D-E0F3B5857B2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7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1pPr>
    <a:lvl2pPr marL="1408058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2pPr>
    <a:lvl3pPr marL="2816116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3pPr>
    <a:lvl4pPr marL="4224173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4pPr>
    <a:lvl5pPr marL="5632231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5pPr>
    <a:lvl6pPr marL="7040289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6pPr>
    <a:lvl7pPr marL="8448344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7pPr>
    <a:lvl8pPr marL="9856402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8pPr>
    <a:lvl9pPr marL="11264460" algn="l" defTabSz="2816116" rtl="0" eaLnBrk="1" latinLnBrk="0" hangingPunct="1">
      <a:defRPr sz="369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9B3A61-4214-1A4E-A88D-E0F3B5857B2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740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Layout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074B4933-EEAA-98B1-8FA2-7BC3F119442A}"/>
              </a:ext>
            </a:extLst>
          </p:cNvPr>
          <p:cNvSpPr/>
          <p:nvPr userDrawn="1"/>
        </p:nvSpPr>
        <p:spPr>
          <a:xfrm>
            <a:off x="754063" y="19889788"/>
            <a:ext cx="6624637" cy="8065242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D70B920-5C4F-A86D-EE50-FA412A90CBC9}"/>
              </a:ext>
            </a:extLst>
          </p:cNvPr>
          <p:cNvSpPr/>
          <p:nvPr userDrawn="1"/>
        </p:nvSpPr>
        <p:spPr>
          <a:xfrm>
            <a:off x="14004925" y="19889788"/>
            <a:ext cx="6624638" cy="8065242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CD1DB3E-0EB4-D05D-6B20-5D064C93A89B}"/>
              </a:ext>
            </a:extLst>
          </p:cNvPr>
          <p:cNvSpPr/>
          <p:nvPr userDrawn="1"/>
        </p:nvSpPr>
        <p:spPr>
          <a:xfrm>
            <a:off x="7378700" y="19889788"/>
            <a:ext cx="6626225" cy="8065242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9445CF7-2EBC-FC31-0197-94ED977DF0A7}"/>
              </a:ext>
            </a:extLst>
          </p:cNvPr>
          <p:cNvSpPr/>
          <p:nvPr userDrawn="1"/>
        </p:nvSpPr>
        <p:spPr>
          <a:xfrm>
            <a:off x="14004925" y="19892212"/>
            <a:ext cx="6624638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9DAFE4C-0F6F-84E5-7B8E-175DE8480B83}"/>
              </a:ext>
            </a:extLst>
          </p:cNvPr>
          <p:cNvSpPr/>
          <p:nvPr userDrawn="1"/>
        </p:nvSpPr>
        <p:spPr>
          <a:xfrm>
            <a:off x="7378699" y="19889788"/>
            <a:ext cx="6626225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821E9DC-C4A4-03D3-1F9A-615C77F6BC2D}"/>
              </a:ext>
            </a:extLst>
          </p:cNvPr>
          <p:cNvSpPr/>
          <p:nvPr userDrawn="1"/>
        </p:nvSpPr>
        <p:spPr>
          <a:xfrm>
            <a:off x="754063" y="19889788"/>
            <a:ext cx="6624637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2E83192-14C5-4DD1-21D2-88BD1428958D}"/>
              </a:ext>
            </a:extLst>
          </p:cNvPr>
          <p:cNvSpPr/>
          <p:nvPr userDrawn="1"/>
        </p:nvSpPr>
        <p:spPr>
          <a:xfrm>
            <a:off x="754063" y="7145338"/>
            <a:ext cx="9937750" cy="640873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A446D88-9133-26DC-5D5D-8310EEAE598E}"/>
              </a:ext>
            </a:extLst>
          </p:cNvPr>
          <p:cNvSpPr/>
          <p:nvPr userDrawn="1"/>
        </p:nvSpPr>
        <p:spPr>
          <a:xfrm>
            <a:off x="10691813" y="7145338"/>
            <a:ext cx="9937750" cy="640873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095CC0E-DBD2-9D95-3452-CF4E1B64B61A}"/>
              </a:ext>
            </a:extLst>
          </p:cNvPr>
          <p:cNvSpPr/>
          <p:nvPr userDrawn="1"/>
        </p:nvSpPr>
        <p:spPr>
          <a:xfrm>
            <a:off x="754063" y="7147762"/>
            <a:ext cx="9937750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E4ED1F8E-CD52-736B-E5CF-495970693735}"/>
              </a:ext>
            </a:extLst>
          </p:cNvPr>
          <p:cNvSpPr/>
          <p:nvPr userDrawn="1"/>
        </p:nvSpPr>
        <p:spPr>
          <a:xfrm>
            <a:off x="10691813" y="7145338"/>
            <a:ext cx="9937750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98D858E1-9D11-1C4A-CE22-A7728046FDC6}"/>
              </a:ext>
            </a:extLst>
          </p:cNvPr>
          <p:cNvSpPr/>
          <p:nvPr userDrawn="1"/>
        </p:nvSpPr>
        <p:spPr>
          <a:xfrm>
            <a:off x="4067175" y="27955030"/>
            <a:ext cx="16562388" cy="158358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654C4CE-51E6-2255-3A40-42B011971997}"/>
              </a:ext>
            </a:extLst>
          </p:cNvPr>
          <p:cNvSpPr/>
          <p:nvPr userDrawn="1"/>
        </p:nvSpPr>
        <p:spPr>
          <a:xfrm>
            <a:off x="754063" y="5560542"/>
            <a:ext cx="19875500" cy="158479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2A0740C-5E26-FCF9-FBCE-BD06BD0AA697}"/>
              </a:ext>
            </a:extLst>
          </p:cNvPr>
          <p:cNvSpPr/>
          <p:nvPr userDrawn="1"/>
        </p:nvSpPr>
        <p:spPr>
          <a:xfrm>
            <a:off x="754063" y="736600"/>
            <a:ext cx="19875500" cy="4823942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88C9CAC3-EAA5-B59D-BC55-0B358F5F9F3F}"/>
              </a:ext>
            </a:extLst>
          </p:cNvPr>
          <p:cNvSpPr/>
          <p:nvPr userDrawn="1"/>
        </p:nvSpPr>
        <p:spPr>
          <a:xfrm>
            <a:off x="754063" y="27955030"/>
            <a:ext cx="3313112" cy="158358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97367551-8B25-3F08-FFF8-441042101D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32" y="28387078"/>
            <a:ext cx="2808312" cy="717819"/>
          </a:xfrm>
          <a:prstGeom prst="rect">
            <a:avLst/>
          </a:prstGeom>
        </p:spPr>
      </p:pic>
      <p:sp>
        <p:nvSpPr>
          <p:cNvPr id="45" name="Rechteck 44">
            <a:extLst>
              <a:ext uri="{FF2B5EF4-FFF2-40B4-BE49-F238E27FC236}">
                <a16:creationId xmlns:a16="http://schemas.microsoft.com/office/drawing/2014/main" id="{BEE6D40D-EEBB-C7F1-D4D9-4500977F7098}"/>
              </a:ext>
            </a:extLst>
          </p:cNvPr>
          <p:cNvSpPr/>
          <p:nvPr userDrawn="1"/>
        </p:nvSpPr>
        <p:spPr>
          <a:xfrm>
            <a:off x="754063" y="13551179"/>
            <a:ext cx="19875500" cy="6338609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9FA767C-F73C-7BD6-D5AE-E16B2D655C5F}"/>
              </a:ext>
            </a:extLst>
          </p:cNvPr>
          <p:cNvSpPr/>
          <p:nvPr userDrawn="1"/>
        </p:nvSpPr>
        <p:spPr>
          <a:xfrm>
            <a:off x="754063" y="13553603"/>
            <a:ext cx="19875500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Title Placeholder 1">
            <a:extLst>
              <a:ext uri="{FF2B5EF4-FFF2-40B4-BE49-F238E27FC236}">
                <a16:creationId xmlns:a16="http://schemas.microsoft.com/office/drawing/2014/main" id="{415CA4A0-56BD-3B13-4A8C-1CAE10B5BBDC}"/>
              </a:ext>
            </a:extLst>
          </p:cNvPr>
          <p:cNvSpPr txBox="1">
            <a:spLocks/>
          </p:cNvSpPr>
          <p:nvPr userDrawn="1"/>
        </p:nvSpPr>
        <p:spPr>
          <a:xfrm>
            <a:off x="-23583996" y="1057872"/>
            <a:ext cx="22394488" cy="43586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300" b="1" i="0" kern="1200">
                <a:solidFill>
                  <a:srgbClr val="343433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r>
              <a:rPr lang="de-DE" dirty="0"/>
              <a:t>CONSTRUCTION KIT: </a:t>
            </a:r>
            <a:br>
              <a:rPr lang="de-DE" dirty="0"/>
            </a:br>
            <a:r>
              <a:rPr lang="de-DE" dirty="0"/>
              <a:t>EXAMPLE LAYOUT</a:t>
            </a:r>
          </a:p>
        </p:txBody>
      </p:sp>
      <p:sp>
        <p:nvSpPr>
          <p:cNvPr id="62" name="Textplatzhalter 3">
            <a:extLst>
              <a:ext uri="{FF2B5EF4-FFF2-40B4-BE49-F238E27FC236}">
                <a16:creationId xmlns:a16="http://schemas.microsoft.com/office/drawing/2014/main" id="{18458F26-B28E-3F35-2733-97526BFC6674}"/>
              </a:ext>
            </a:extLst>
          </p:cNvPr>
          <p:cNvSpPr txBox="1">
            <a:spLocks/>
          </p:cNvSpPr>
          <p:nvPr userDrawn="1"/>
        </p:nvSpPr>
        <p:spPr>
          <a:xfrm>
            <a:off x="-23583996" y="7304124"/>
            <a:ext cx="22754528" cy="1281075"/>
          </a:xfrm>
          <a:prstGeom prst="rect">
            <a:avLst/>
          </a:prstGeom>
        </p:spPr>
        <p:txBody>
          <a:bodyPr anchor="ctr"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Layout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inspiration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designing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poster</a:t>
            </a:r>
            <a:r>
              <a:rPr lang="de-DE" dirty="0"/>
              <a:t>.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9A04255-9CCE-C8BB-679D-07722A87421E}"/>
              </a:ext>
            </a:extLst>
          </p:cNvPr>
          <p:cNvSpPr txBox="1"/>
          <p:nvPr userDrawn="1"/>
        </p:nvSpPr>
        <p:spPr>
          <a:xfrm>
            <a:off x="1114748" y="15497646"/>
            <a:ext cx="191541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2920" indent="-322920">
              <a:buFont typeface="Arial" charset="0"/>
              <a:buChar char="•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Bullet Point 1</a:t>
            </a:r>
            <a:b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</a:b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Lorem ipsum 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consetetur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sadipscing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elitr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sed diam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nonumy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eirmod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tempor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invidunt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ut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labore </a:t>
            </a:r>
            <a:b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</a:b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et dolore magna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aliquyam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erat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sed diam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voluptua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</a:t>
            </a:r>
          </a:p>
          <a:p>
            <a:pPr marL="889153" lvl="1" indent="-254268">
              <a:buFont typeface="Symbol" charset="2"/>
              <a:buChar char="-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2</a:t>
            </a:r>
            <a:r>
              <a:rPr lang="en-US" sz="2400" b="1" i="0" baseline="30000" dirty="0">
                <a:latin typeface="Montserrat SemiBold" pitchFamily="2" charset="77"/>
                <a:ea typeface="Lucida Sans" charset="0"/>
                <a:cs typeface="Lucida Sans" charset="0"/>
              </a:rPr>
              <a:t>nd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level Bullet Point</a:t>
            </a:r>
          </a:p>
          <a:p>
            <a:pPr marL="889153" lvl="1" indent="-254268">
              <a:buFont typeface="Symbol" charset="2"/>
              <a:buChar char="-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Another 2</a:t>
            </a:r>
            <a:r>
              <a:rPr lang="en-US" sz="2400" b="1" i="0" baseline="30000" dirty="0">
                <a:latin typeface="Montserrat SemiBold" pitchFamily="2" charset="77"/>
                <a:ea typeface="Lucida Sans" charset="0"/>
                <a:cs typeface="Lucida Sans" charset="0"/>
              </a:rPr>
              <a:t>nd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level Bullet Point</a:t>
            </a:r>
          </a:p>
          <a:p>
            <a:pPr marL="322920" indent="-322920">
              <a:buFont typeface="Arial" charset="0"/>
              <a:buChar char="•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Bullet Point 3:</a:t>
            </a:r>
            <a:b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</a:b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Lorem ipsum 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consetetur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sadipscing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elitr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sed diam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nonumy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sed diam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voluptua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</a:t>
            </a:r>
          </a:p>
          <a:p>
            <a:pPr marL="889153" lvl="1" indent="-254268">
              <a:buFont typeface="Symbol" charset="2"/>
              <a:buChar char="-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2</a:t>
            </a:r>
            <a:r>
              <a:rPr lang="en-US" sz="2400" b="1" i="0" baseline="30000" dirty="0">
                <a:latin typeface="Montserrat SemiBold" pitchFamily="2" charset="77"/>
                <a:ea typeface="Lucida Sans" charset="0"/>
                <a:cs typeface="Lucida Sans" charset="0"/>
              </a:rPr>
              <a:t>nd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level Bullet Point</a:t>
            </a:r>
          </a:p>
          <a:p>
            <a:pPr marL="889153" lvl="1" indent="-254268">
              <a:buFont typeface="Symbol" charset="2"/>
              <a:buChar char="-"/>
            </a:pP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Another 2</a:t>
            </a:r>
            <a:r>
              <a:rPr lang="en-US" sz="2400" b="1" i="0" baseline="30000" dirty="0">
                <a:latin typeface="Montserrat SemiBold" pitchFamily="2" charset="77"/>
                <a:ea typeface="Lucida Sans" charset="0"/>
                <a:cs typeface="Lucida Sans" charset="0"/>
              </a:rPr>
              <a:t>nd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level Bullet Point</a:t>
            </a:r>
          </a:p>
          <a:p>
            <a:pPr marL="634885" lvl="1" indent="0">
              <a:buFont typeface="Symbol" charset="2"/>
              <a:buNone/>
            </a:pPr>
            <a:endParaRPr lang="en-US" sz="2400" b="1" i="0" dirty="0">
              <a:latin typeface="Montserrat SemiBold" pitchFamily="2" charset="77"/>
              <a:ea typeface="Lucida Sans" charset="0"/>
              <a:cs typeface="Lucida Sans" charset="0"/>
            </a:endParaRPr>
          </a:p>
          <a:p>
            <a:pPr marL="0" marR="0" lvl="0" indent="0" algn="l" defTabSz="28161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i="1" dirty="0">
                <a:solidFill>
                  <a:srgbClr val="91D1D9"/>
                </a:solidFill>
                <a:latin typeface="Montserrat SemiBold" pitchFamily="2" charset="77"/>
                <a:ea typeface="Lucida Sans" charset="0"/>
                <a:cs typeface="Lucida Sans" charset="0"/>
                <a:sym typeface="Wingdings" pitchFamily="2" charset="2"/>
              </a:rPr>
              <a:t> </a:t>
            </a:r>
            <a:r>
              <a:rPr lang="en-US" sz="2400" b="1" i="1" dirty="0">
                <a:solidFill>
                  <a:srgbClr val="91D1D9"/>
                </a:solidFill>
                <a:latin typeface="Montserrat SemiBold" pitchFamily="2" charset="77"/>
                <a:ea typeface="Lucida Sans" charset="0"/>
                <a:cs typeface="Lucida Sans" charset="0"/>
              </a:rPr>
              <a:t>Use Arrow for conclusion, type - - &gt; (without spaces)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B989837B-B30C-4A3F-96EF-11CE5E83F008}"/>
              </a:ext>
            </a:extLst>
          </p:cNvPr>
          <p:cNvSpPr txBox="1"/>
          <p:nvPr userDrawn="1"/>
        </p:nvSpPr>
        <p:spPr>
          <a:xfrm>
            <a:off x="1114748" y="9088934"/>
            <a:ext cx="92170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Text without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bullet points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Highlighting with italics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Lorem ipsum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Lorem ipsum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Lorem ipsum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2FE8A237-3E01-708A-6DF6-BA6D637D1873}"/>
              </a:ext>
            </a:extLst>
          </p:cNvPr>
          <p:cNvSpPr txBox="1"/>
          <p:nvPr userDrawn="1"/>
        </p:nvSpPr>
        <p:spPr>
          <a:xfrm>
            <a:off x="14253973" y="21820195"/>
            <a:ext cx="601490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Text without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bullet points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Lorem ipsum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Lorem ipsum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Stet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clita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kasd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gubergren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, no sea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takimata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sanctus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est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0" i="1" dirty="0">
                <a:latin typeface="Montserrat" pitchFamily="2" charset="77"/>
                <a:ea typeface="Lucida Sans" charset="0"/>
                <a:cs typeface="Lucida Sans" charset="0"/>
              </a:rPr>
              <a:t>Highlighting with italics 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dolor sit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amet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At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vero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eos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accusam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justo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duo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dolores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et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ea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 </a:t>
            </a:r>
            <a:r>
              <a:rPr lang="en-US" sz="2400" b="1" i="0" dirty="0" err="1">
                <a:latin typeface="Montserrat SemiBold" pitchFamily="2" charset="77"/>
                <a:ea typeface="Lucida Sans" charset="0"/>
                <a:cs typeface="Lucida Sans" charset="0"/>
              </a:rPr>
              <a:t>rebum</a:t>
            </a:r>
            <a:r>
              <a:rPr lang="en-US" sz="2400" b="1" i="0" dirty="0">
                <a:latin typeface="Montserrat SemiBold" pitchFamily="2" charset="77"/>
                <a:ea typeface="Lucida Sans" charset="0"/>
                <a:cs typeface="Lucida Sans" charset="0"/>
              </a:rPr>
              <a:t>. 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1FE94B2B-F0B3-0B11-3538-F5A77CBBA9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1852" y="8728894"/>
            <a:ext cx="9068745" cy="495471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5103ACAA-2715-39E5-6F02-91F61C3C41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34189" y="21817614"/>
            <a:ext cx="5897983" cy="5884948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E83DEA7-8E94-905A-E365-A7B6D7AE600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1155" y="21469178"/>
            <a:ext cx="6459049" cy="6449592"/>
          </a:xfrm>
          <a:prstGeom prst="rect">
            <a:avLst/>
          </a:prstGeom>
        </p:spPr>
      </p:pic>
      <p:sp>
        <p:nvSpPr>
          <p:cNvPr id="72" name="Title Placeholder 1">
            <a:extLst>
              <a:ext uri="{FF2B5EF4-FFF2-40B4-BE49-F238E27FC236}">
                <a16:creationId xmlns:a16="http://schemas.microsoft.com/office/drawing/2014/main" id="{40D3D796-7525-0FA8-ABC8-6F10481499EF}"/>
              </a:ext>
            </a:extLst>
          </p:cNvPr>
          <p:cNvSpPr txBox="1">
            <a:spLocks/>
          </p:cNvSpPr>
          <p:nvPr userDrawn="1"/>
        </p:nvSpPr>
        <p:spPr>
          <a:xfrm>
            <a:off x="1104804" y="1024038"/>
            <a:ext cx="19164072" cy="4286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300" b="1" i="0" kern="1200">
                <a:solidFill>
                  <a:srgbClr val="343433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r>
              <a:rPr lang="de-DE" dirty="0"/>
              <a:t>TITLE OF THE POSTER, WHICH IS SLIGHTLY LONGER.</a:t>
            </a:r>
          </a:p>
        </p:txBody>
      </p:sp>
      <p:sp>
        <p:nvSpPr>
          <p:cNvPr id="73" name="Textplatzhalter 3">
            <a:extLst>
              <a:ext uri="{FF2B5EF4-FFF2-40B4-BE49-F238E27FC236}">
                <a16:creationId xmlns:a16="http://schemas.microsoft.com/office/drawing/2014/main" id="{B381BE2D-08DF-50C3-1445-F5418AAF6EBA}"/>
              </a:ext>
            </a:extLst>
          </p:cNvPr>
          <p:cNvSpPr txBox="1">
            <a:spLocks/>
          </p:cNvSpPr>
          <p:nvPr userDrawn="1"/>
        </p:nvSpPr>
        <p:spPr>
          <a:xfrm>
            <a:off x="1104804" y="5703924"/>
            <a:ext cx="19164072" cy="1281075"/>
          </a:xfrm>
          <a:prstGeom prst="rect">
            <a:avLst/>
          </a:prstGeom>
        </p:spPr>
        <p:txBody>
          <a:bodyPr anchor="ctr"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Names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, so </a:t>
            </a:r>
            <a:r>
              <a:rPr lang="de-DE" dirty="0" err="1"/>
              <a:t>everyone</a:t>
            </a:r>
            <a:r>
              <a:rPr lang="de-DE" dirty="0"/>
              <a:t> </a:t>
            </a:r>
            <a:r>
              <a:rPr lang="de-DE" dirty="0" err="1"/>
              <a:t>knows</a:t>
            </a:r>
            <a:r>
              <a:rPr lang="de-DE" dirty="0"/>
              <a:t> </a:t>
            </a:r>
            <a:r>
              <a:rPr lang="de-DE" dirty="0" err="1"/>
              <a:t>whom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contact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brilliant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.</a:t>
            </a:r>
          </a:p>
        </p:txBody>
      </p:sp>
      <p:sp>
        <p:nvSpPr>
          <p:cNvPr id="74" name="Textplatzhalter 7">
            <a:extLst>
              <a:ext uri="{FF2B5EF4-FFF2-40B4-BE49-F238E27FC236}">
                <a16:creationId xmlns:a16="http://schemas.microsoft.com/office/drawing/2014/main" id="{9F58E3ED-EBA8-30F8-A511-A1E4A14EBE51}"/>
              </a:ext>
            </a:extLst>
          </p:cNvPr>
          <p:cNvSpPr txBox="1">
            <a:spLocks/>
          </p:cNvSpPr>
          <p:nvPr userDrawn="1"/>
        </p:nvSpPr>
        <p:spPr>
          <a:xfrm>
            <a:off x="1104804" y="7284519"/>
            <a:ext cx="9298976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BODY TEXT EXAMPLE</a:t>
            </a:r>
          </a:p>
        </p:txBody>
      </p:sp>
      <p:sp>
        <p:nvSpPr>
          <p:cNvPr id="75" name="Textplatzhalter 7">
            <a:extLst>
              <a:ext uri="{FF2B5EF4-FFF2-40B4-BE49-F238E27FC236}">
                <a16:creationId xmlns:a16="http://schemas.microsoft.com/office/drawing/2014/main" id="{194AEADB-97DE-17D4-FF22-B22EC6B5024C}"/>
              </a:ext>
            </a:extLst>
          </p:cNvPr>
          <p:cNvSpPr txBox="1">
            <a:spLocks/>
          </p:cNvSpPr>
          <p:nvPr userDrawn="1"/>
        </p:nvSpPr>
        <p:spPr>
          <a:xfrm>
            <a:off x="10980324" y="7284519"/>
            <a:ext cx="8928512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GRAPHIC EXAMPLE</a:t>
            </a:r>
          </a:p>
        </p:txBody>
      </p:sp>
      <p:sp>
        <p:nvSpPr>
          <p:cNvPr id="76" name="Textplatzhalter 7">
            <a:extLst>
              <a:ext uri="{FF2B5EF4-FFF2-40B4-BE49-F238E27FC236}">
                <a16:creationId xmlns:a16="http://schemas.microsoft.com/office/drawing/2014/main" id="{1F4ED38B-D95C-D948-79DA-F0A51A352706}"/>
              </a:ext>
            </a:extLst>
          </p:cNvPr>
          <p:cNvSpPr txBox="1">
            <a:spLocks/>
          </p:cNvSpPr>
          <p:nvPr userDrawn="1"/>
        </p:nvSpPr>
        <p:spPr>
          <a:xfrm>
            <a:off x="1104804" y="13705197"/>
            <a:ext cx="19236080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BULLET POINTS EXAMPLE</a:t>
            </a:r>
          </a:p>
        </p:txBody>
      </p:sp>
      <p:sp>
        <p:nvSpPr>
          <p:cNvPr id="77" name="Textplatzhalter 7">
            <a:extLst>
              <a:ext uri="{FF2B5EF4-FFF2-40B4-BE49-F238E27FC236}">
                <a16:creationId xmlns:a16="http://schemas.microsoft.com/office/drawing/2014/main" id="{3F489B27-BD49-9BF4-A71A-C6D8D4DF402D}"/>
              </a:ext>
            </a:extLst>
          </p:cNvPr>
          <p:cNvSpPr txBox="1">
            <a:spLocks/>
          </p:cNvSpPr>
          <p:nvPr userDrawn="1"/>
        </p:nvSpPr>
        <p:spPr>
          <a:xfrm>
            <a:off x="1042740" y="20034150"/>
            <a:ext cx="6048672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GRAPHIC EXAMPLE</a:t>
            </a:r>
          </a:p>
        </p:txBody>
      </p:sp>
      <p:sp>
        <p:nvSpPr>
          <p:cNvPr id="79" name="Textplatzhalter 7">
            <a:extLst>
              <a:ext uri="{FF2B5EF4-FFF2-40B4-BE49-F238E27FC236}">
                <a16:creationId xmlns:a16="http://schemas.microsoft.com/office/drawing/2014/main" id="{19365D5B-74AC-7E58-28CB-74991FF4300F}"/>
              </a:ext>
            </a:extLst>
          </p:cNvPr>
          <p:cNvSpPr txBox="1">
            <a:spLocks/>
          </p:cNvSpPr>
          <p:nvPr userDrawn="1"/>
        </p:nvSpPr>
        <p:spPr>
          <a:xfrm>
            <a:off x="7643565" y="20034150"/>
            <a:ext cx="6048672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ICON EXAMPLE</a:t>
            </a:r>
          </a:p>
        </p:txBody>
      </p:sp>
      <p:sp>
        <p:nvSpPr>
          <p:cNvPr id="80" name="Textplatzhalter 7">
            <a:extLst>
              <a:ext uri="{FF2B5EF4-FFF2-40B4-BE49-F238E27FC236}">
                <a16:creationId xmlns:a16="http://schemas.microsoft.com/office/drawing/2014/main" id="{81658315-B42C-993E-C68F-3C0B9DA24F7A}"/>
              </a:ext>
            </a:extLst>
          </p:cNvPr>
          <p:cNvSpPr txBox="1">
            <a:spLocks/>
          </p:cNvSpPr>
          <p:nvPr userDrawn="1"/>
        </p:nvSpPr>
        <p:spPr>
          <a:xfrm>
            <a:off x="14220204" y="20034150"/>
            <a:ext cx="6048672" cy="1300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TEXT EXAMPLE</a:t>
            </a:r>
          </a:p>
        </p:txBody>
      </p:sp>
      <p:sp>
        <p:nvSpPr>
          <p:cNvPr id="81" name="Textplatzhalter 7">
            <a:extLst>
              <a:ext uri="{FF2B5EF4-FFF2-40B4-BE49-F238E27FC236}">
                <a16:creationId xmlns:a16="http://schemas.microsoft.com/office/drawing/2014/main" id="{B7B39CBC-DA25-BE62-B04D-4DEDA2D0C86E}"/>
              </a:ext>
            </a:extLst>
          </p:cNvPr>
          <p:cNvSpPr txBox="1">
            <a:spLocks/>
          </p:cNvSpPr>
          <p:nvPr userDrawn="1"/>
        </p:nvSpPr>
        <p:spPr>
          <a:xfrm>
            <a:off x="-23583996" y="9089256"/>
            <a:ext cx="19154128" cy="18793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TO USE THIS TEMPLATE CORRECTLY, YOU NEED TO HAVE OUR HOUSE FONT “MONTSERRAT” INSTALLED ON YOUR DEVICE. YOU CAN FIND IT IN THE WIKI UNDER THE FOLLOWING LINK:</a:t>
            </a:r>
          </a:p>
          <a:p>
            <a:r>
              <a:rPr lang="de-DE" b="1" i="0" dirty="0">
                <a:latin typeface="Montserrat ExtraBold" pitchFamily="2" charset="77"/>
              </a:rPr>
              <a:t>https://</a:t>
            </a:r>
            <a:r>
              <a:rPr lang="de-DE" b="1" i="0" dirty="0" err="1">
                <a:latin typeface="Montserrat ExtraBold" pitchFamily="2" charset="77"/>
              </a:rPr>
              <a:t>wiki.cispa.de</a:t>
            </a:r>
            <a:r>
              <a:rPr lang="de-DE" b="1" i="0" dirty="0">
                <a:latin typeface="Montserrat ExtraBold" pitchFamily="2" charset="77"/>
              </a:rPr>
              <a:t>/</a:t>
            </a:r>
            <a:r>
              <a:rPr lang="de-DE" b="1" i="0" dirty="0" err="1">
                <a:latin typeface="Montserrat ExtraBold" pitchFamily="2" charset="77"/>
              </a:rPr>
              <a:t>display</a:t>
            </a:r>
            <a:r>
              <a:rPr lang="de-DE" b="1" i="0" dirty="0">
                <a:latin typeface="Montserrat ExtraBold" pitchFamily="2" charset="77"/>
              </a:rPr>
              <a:t>/cc/</a:t>
            </a:r>
            <a:r>
              <a:rPr lang="de-DE" b="1" i="0" dirty="0" err="1">
                <a:latin typeface="Montserrat ExtraBold" pitchFamily="2" charset="77"/>
              </a:rPr>
              <a:t>installing+the+house+font+montserrat</a:t>
            </a:r>
            <a:endParaRPr lang="de-DE" b="1" i="0" dirty="0">
              <a:latin typeface="Montserrat ExtraBold" pitchFamily="2" charset="77"/>
            </a:endParaRPr>
          </a:p>
          <a:p>
            <a:endParaRPr lang="de-DE" b="1" i="0" dirty="0">
              <a:latin typeface="Montserrat ExtraBold" pitchFamily="2" charset="77"/>
            </a:endParaRPr>
          </a:p>
          <a:p>
            <a:r>
              <a:rPr lang="de-DE" b="1" i="0" dirty="0">
                <a:latin typeface="Montserrat ExtraBold" pitchFamily="2" charset="77"/>
              </a:rPr>
              <a:t>IF YOU WANT TO USE FREE IMAGES OR ICONS FOR YOUR POSTER YOU CAN HELP YOURSELF HERE:</a:t>
            </a:r>
          </a:p>
          <a:p>
            <a:endParaRPr lang="de-DE" b="1" i="0" dirty="0">
              <a:latin typeface="Montserrat ExtraBold" pitchFamily="2" charset="77"/>
            </a:endParaRPr>
          </a:p>
          <a:p>
            <a:r>
              <a:rPr lang="de-DE" b="1" i="0" dirty="0">
                <a:latin typeface="Montserrat ExtraBold" pitchFamily="2" charset="77"/>
              </a:rPr>
              <a:t>FOR ICONS YOU CAN SIMPLY DOWNLOAD A PNG OR SVG FILE FROM THE GOOGLE ICON COLLECTION:</a:t>
            </a:r>
          </a:p>
          <a:p>
            <a:r>
              <a:rPr lang="de-DE" b="1" i="0" dirty="0">
                <a:latin typeface="Montserrat ExtraBold" pitchFamily="2" charset="77"/>
              </a:rPr>
              <a:t>https://</a:t>
            </a:r>
            <a:r>
              <a:rPr lang="de-DE" b="1" i="0" dirty="0" err="1">
                <a:latin typeface="Montserrat ExtraBold" pitchFamily="2" charset="77"/>
              </a:rPr>
              <a:t>fonts.google.com</a:t>
            </a:r>
            <a:r>
              <a:rPr lang="de-DE" b="1" i="0" dirty="0">
                <a:latin typeface="Montserrat ExtraBold" pitchFamily="2" charset="77"/>
              </a:rPr>
              <a:t>/</a:t>
            </a:r>
            <a:r>
              <a:rPr lang="de-DE" b="1" i="0" dirty="0" err="1">
                <a:latin typeface="Montserrat ExtraBold" pitchFamily="2" charset="77"/>
              </a:rPr>
              <a:t>icons</a:t>
            </a:r>
            <a:endParaRPr lang="de-DE" b="1" i="0" dirty="0">
              <a:latin typeface="Montserrat ExtraBold" pitchFamily="2" charset="77"/>
            </a:endParaRPr>
          </a:p>
          <a:p>
            <a:endParaRPr lang="de-DE" b="1" i="0" dirty="0">
              <a:latin typeface="Montserrat ExtraBold" pitchFamily="2" charset="77"/>
            </a:endParaRPr>
          </a:p>
          <a:p>
            <a:r>
              <a:rPr lang="de-DE" b="1" i="0" dirty="0">
                <a:latin typeface="Montserrat ExtraBold" pitchFamily="2" charset="77"/>
              </a:rPr>
              <a:t>FOR IMAGES WE RECOMMEND THE FOLLOWING SITE:</a:t>
            </a:r>
          </a:p>
          <a:p>
            <a:r>
              <a:rPr lang="de-DE" b="1" i="0" dirty="0">
                <a:latin typeface="Montserrat ExtraBold" pitchFamily="2" charset="77"/>
              </a:rPr>
              <a:t>https://</a:t>
            </a:r>
            <a:r>
              <a:rPr lang="de-DE" b="1" i="0" dirty="0" err="1">
                <a:latin typeface="Montserrat ExtraBold" pitchFamily="2" charset="77"/>
              </a:rPr>
              <a:t>unsplash.com</a:t>
            </a:r>
            <a:r>
              <a:rPr lang="de-DE" b="1" i="0" dirty="0">
                <a:latin typeface="Montserrat ExtraBold" pitchFamily="2" charset="77"/>
              </a:rPr>
              <a:t>/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DCE946A3-7A20-C7C0-AC0F-1BFFD477AA63}"/>
              </a:ext>
            </a:extLst>
          </p:cNvPr>
          <p:cNvSpPr txBox="1"/>
          <p:nvPr userDrawn="1"/>
        </p:nvSpPr>
        <p:spPr>
          <a:xfrm>
            <a:off x="4355108" y="28171054"/>
            <a:ext cx="1591409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This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poster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is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based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on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following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publications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: </a:t>
            </a:r>
          </a:p>
          <a:p>
            <a:pPr marL="342900" indent="-342900">
              <a:buFontTx/>
              <a:buAutoNum type="arabicPeriod"/>
            </a:pP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Name 1, Name 2, Name 3, etc.: “Title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publication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”</a:t>
            </a:r>
            <a:b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</a:b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In Proceedings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“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name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conference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”</a:t>
            </a:r>
          </a:p>
          <a:p>
            <a:pPr marL="342900" indent="-342900">
              <a:buFontTx/>
              <a:buAutoNum type="arabicPeriod"/>
            </a:pP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Name 1, Name 2, Name 3, etc.: “Title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publication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”</a:t>
            </a:r>
            <a:b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</a:b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In Proceedings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“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name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of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the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 </a:t>
            </a:r>
            <a:r>
              <a:rPr lang="de-DE" sz="1400" b="0" i="0" dirty="0" err="1">
                <a:latin typeface="Montserrat Light" pitchFamily="2" charset="77"/>
                <a:ea typeface="Lucida Sans" charset="0"/>
                <a:cs typeface="Lucida Sans" charset="0"/>
              </a:rPr>
              <a:t>conference</a:t>
            </a:r>
            <a:r>
              <a:rPr lang="de-DE" sz="1400" b="0" i="0" dirty="0">
                <a:latin typeface="Montserrat Light" pitchFamily="2" charset="77"/>
                <a:ea typeface="Lucida Sans" charset="0"/>
                <a:cs typeface="Lucida Sans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629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Kit: Blank Poster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13406533-A015-79CE-5059-32AA8CB2C9A8}"/>
              </a:ext>
            </a:extLst>
          </p:cNvPr>
          <p:cNvSpPr/>
          <p:nvPr userDrawn="1"/>
        </p:nvSpPr>
        <p:spPr>
          <a:xfrm>
            <a:off x="4067175" y="27955030"/>
            <a:ext cx="16562388" cy="158358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AC10024-28A4-272A-8C17-ED2A22D4AE84}"/>
              </a:ext>
            </a:extLst>
          </p:cNvPr>
          <p:cNvSpPr/>
          <p:nvPr userDrawn="1"/>
        </p:nvSpPr>
        <p:spPr>
          <a:xfrm>
            <a:off x="754063" y="27955030"/>
            <a:ext cx="3313112" cy="158358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2A0740C-5E26-FCF9-FBCE-BD06BD0AA697}"/>
              </a:ext>
            </a:extLst>
          </p:cNvPr>
          <p:cNvSpPr/>
          <p:nvPr userDrawn="1"/>
        </p:nvSpPr>
        <p:spPr>
          <a:xfrm>
            <a:off x="754063" y="736600"/>
            <a:ext cx="19875500" cy="4823942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E9D01230-7CF6-B220-8F05-4A3C3FC28C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TITLE OF THE POSTER, WHICH IS SLIGHTLY LONGER.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0272C4C-80E4-7A1E-7D68-0137A8BB861B}"/>
              </a:ext>
            </a:extLst>
          </p:cNvPr>
          <p:cNvSpPr/>
          <p:nvPr userDrawn="1"/>
        </p:nvSpPr>
        <p:spPr>
          <a:xfrm>
            <a:off x="754063" y="7145338"/>
            <a:ext cx="19875500" cy="20809692"/>
          </a:xfrm>
          <a:prstGeom prst="rect">
            <a:avLst/>
          </a:prstGeom>
          <a:noFill/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FD07A1-9E84-5021-B05E-443D08424B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Kooperations</a:t>
            </a:r>
            <a:r>
              <a:rPr lang="en-US" dirty="0"/>
              <a:t>-Logos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Fußnoten</a:t>
            </a:r>
            <a:endParaRPr lang="en-US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158D4E5-566C-9686-F9B7-C5FB9C159A47}"/>
              </a:ext>
            </a:extLst>
          </p:cNvPr>
          <p:cNvSpPr/>
          <p:nvPr userDrawn="1"/>
        </p:nvSpPr>
        <p:spPr>
          <a:xfrm>
            <a:off x="754063" y="5560542"/>
            <a:ext cx="19875500" cy="158479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A7F92598-3AE8-745D-030D-35F2EEBF88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4672" y="5719626"/>
            <a:ext cx="19154528" cy="1281075"/>
          </a:xfrm>
        </p:spPr>
        <p:txBody>
          <a:bodyPr anchor="ctr"/>
          <a:lstStyle/>
          <a:p>
            <a:pPr lvl="0"/>
            <a:r>
              <a:rPr lang="de-DE" dirty="0"/>
              <a:t>Name 1, Name 2, Name 3, Name 4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endParaRPr lang="de-DE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D38B7B5D-86B1-223A-705F-6A8B31CA45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732" y="28387078"/>
            <a:ext cx="2808312" cy="717819"/>
          </a:xfrm>
          <a:prstGeom prst="rect">
            <a:avLst/>
          </a:prstGeom>
        </p:spPr>
      </p:pic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4AA0B85-8FE5-D84E-085C-D691018705E0}"/>
              </a:ext>
            </a:extLst>
          </p:cNvPr>
          <p:cNvSpPr txBox="1">
            <a:spLocks/>
          </p:cNvSpPr>
          <p:nvPr userDrawn="1"/>
        </p:nvSpPr>
        <p:spPr>
          <a:xfrm>
            <a:off x="-23583996" y="1057872"/>
            <a:ext cx="22394488" cy="43586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300" b="1" i="0" kern="1200">
                <a:solidFill>
                  <a:srgbClr val="343433"/>
                </a:solidFill>
                <a:latin typeface="Montserrat Black" pitchFamily="2" charset="77"/>
                <a:ea typeface="+mj-ea"/>
                <a:cs typeface="+mj-cs"/>
              </a:defRPr>
            </a:lvl1pPr>
          </a:lstStyle>
          <a:p>
            <a:r>
              <a:rPr lang="de-DE" dirty="0"/>
              <a:t>CONSTRUCTION KIT: </a:t>
            </a:r>
            <a:br>
              <a:rPr lang="de-DE" dirty="0"/>
            </a:br>
            <a:r>
              <a:rPr lang="de-DE" dirty="0"/>
              <a:t>BLANK POSTER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07688720-2C9D-76B3-5ABC-78DDFBBA503F}"/>
              </a:ext>
            </a:extLst>
          </p:cNvPr>
          <p:cNvSpPr txBox="1">
            <a:spLocks/>
          </p:cNvSpPr>
          <p:nvPr userDrawn="1"/>
        </p:nvSpPr>
        <p:spPr>
          <a:xfrm>
            <a:off x="-23583996" y="9089256"/>
            <a:ext cx="19154128" cy="18793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SIMPLY INSERT THE NEEDED MODULES FROM THE OTHER SLIDES WITH CTRL+V AND CREATE YOUR INDIVIDUAL POSTER PIECE BY PIECE, LIKE A CONSTRUCTION KIT SYSTEM.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3F16E411-7EDF-5CCA-27EA-DBE57833E599}"/>
              </a:ext>
            </a:extLst>
          </p:cNvPr>
          <p:cNvSpPr txBox="1">
            <a:spLocks/>
          </p:cNvSpPr>
          <p:nvPr userDrawn="1"/>
        </p:nvSpPr>
        <p:spPr>
          <a:xfrm>
            <a:off x="-23583996" y="7304124"/>
            <a:ext cx="22754528" cy="1281075"/>
          </a:xfrm>
          <a:prstGeom prst="rect">
            <a:avLst/>
          </a:prstGeom>
        </p:spPr>
        <p:txBody>
          <a:bodyPr anchor="ctr"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own </a:t>
            </a:r>
            <a:r>
              <a:rPr lang="de-DE" dirty="0" err="1"/>
              <a:t>poster</a:t>
            </a:r>
            <a:r>
              <a:rPr lang="de-DE" dirty="0"/>
              <a:t>,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Blank Poster Slide.</a:t>
            </a:r>
          </a:p>
        </p:txBody>
      </p:sp>
    </p:spTree>
    <p:extLst>
      <p:ext uri="{BB962C8B-B14F-4D97-AF65-F5344CB8AC3E}">
        <p14:creationId xmlns:p14="http://schemas.microsoft.com/office/powerpoint/2010/main" val="24644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truction Kit –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DE273D9-C953-B6DA-31B8-60B529425FFF}"/>
              </a:ext>
            </a:extLst>
          </p:cNvPr>
          <p:cNvSpPr txBox="1">
            <a:spLocks/>
          </p:cNvSpPr>
          <p:nvPr userDrawn="1"/>
        </p:nvSpPr>
        <p:spPr>
          <a:xfrm>
            <a:off x="-23583996" y="9089256"/>
            <a:ext cx="19154128" cy="18793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i="0" dirty="0">
                <a:latin typeface="Montserrat ExtraBold" pitchFamily="2" charset="77"/>
              </a:rPr>
              <a:t>JUST CLICK ON AN ELEMENT ON THE SLIDE AND PRESS CTRL+A TO SELECT THE WHOLE MODULE. </a:t>
            </a:r>
          </a:p>
          <a:p>
            <a:r>
              <a:rPr lang="de-DE" b="1" i="0" dirty="0">
                <a:latin typeface="Montserrat ExtraBold" pitchFamily="2" charset="77"/>
              </a:rPr>
              <a:t>WITH CTRL+C YOU CAN COPY THE MODULE AND WITH CTRL+V YOU CAN PASTE IT ON THE BLANK POSTER SLIDE IN THE ORIGINAL POSITION LIKE A MODULAR SYSTEM.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6401DC21-F573-95C6-03A7-F80A61B848BE}"/>
              </a:ext>
            </a:extLst>
          </p:cNvPr>
          <p:cNvSpPr txBox="1">
            <a:spLocks/>
          </p:cNvSpPr>
          <p:nvPr userDrawn="1"/>
        </p:nvSpPr>
        <p:spPr>
          <a:xfrm>
            <a:off x="-23583996" y="7304124"/>
            <a:ext cx="22754528" cy="1281075"/>
          </a:xfrm>
          <a:prstGeom prst="rect">
            <a:avLst/>
          </a:prstGeom>
        </p:spPr>
        <p:txBody>
          <a:bodyPr anchor="ctr"/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poster</a:t>
            </a:r>
            <a:r>
              <a:rPr lang="de-DE" dirty="0"/>
              <a:t>, just </a:t>
            </a:r>
            <a:r>
              <a:rPr lang="de-DE" dirty="0" err="1"/>
              <a:t>copy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Blank Poster Slide.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13BB8047-E43C-BDA8-E263-CABD776B83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-23583403" y="1816126"/>
            <a:ext cx="20521687" cy="4680520"/>
          </a:xfrm>
        </p:spPr>
        <p:txBody>
          <a:bodyPr>
            <a:noAutofit/>
          </a:bodyPr>
          <a:lstStyle>
            <a:lvl1pPr>
              <a:defRPr sz="10300" b="1" i="0">
                <a:latin typeface="Montserrat Black" pitchFamily="2" charset="77"/>
              </a:defRPr>
            </a:lvl1pPr>
          </a:lstStyle>
          <a:p>
            <a:pPr lvl="0"/>
            <a:r>
              <a:rPr lang="de-DE" dirty="0"/>
              <a:t>CONSTRUCTION KIT: NUMBER OF THE LINE – NUMBER OF COLUMNS</a:t>
            </a:r>
          </a:p>
        </p:txBody>
      </p:sp>
    </p:spTree>
    <p:extLst>
      <p:ext uri="{BB962C8B-B14F-4D97-AF65-F5344CB8AC3E}">
        <p14:creationId xmlns:p14="http://schemas.microsoft.com/office/powerpoint/2010/main" val="3041258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1D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4748" y="1057872"/>
            <a:ext cx="19154452" cy="43586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TITLE OF THE POSTER, WHICH IS SLIGHTLY LONGER.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5108" y="28171054"/>
            <a:ext cx="15914092" cy="115212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400" b="0" i="0">
                <a:solidFill>
                  <a:srgbClr val="343433"/>
                </a:solidFill>
                <a:latin typeface="Montserrat Light" pitchFamily="2" charset="77"/>
              </a:defRPr>
            </a:lvl1pPr>
          </a:lstStyle>
          <a:p>
            <a:r>
              <a:rPr lang="en-US" dirty="0" err="1"/>
              <a:t>Kooperations</a:t>
            </a:r>
            <a:r>
              <a:rPr lang="en-US" dirty="0"/>
              <a:t>-Logos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Fußnoten</a:t>
            </a:r>
            <a:endParaRPr lang="en-US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CE55B2B-FE56-B1AA-85F7-FEE75F9C2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4748" y="7504758"/>
            <a:ext cx="19154128" cy="18793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Name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projekt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endParaRPr lang="de-DE" dirty="0"/>
          </a:p>
          <a:p>
            <a:pPr lvl="1"/>
            <a:r>
              <a:rPr lang="de-DE" dirty="0"/>
              <a:t>UNTERÜBERSCHRIFT</a:t>
            </a:r>
          </a:p>
          <a:p>
            <a:pPr lvl="2"/>
            <a:r>
              <a:rPr lang="de-DE" dirty="0"/>
              <a:t>Stichpunkte</a:t>
            </a:r>
          </a:p>
          <a:p>
            <a:pPr lvl="3"/>
            <a:r>
              <a:rPr lang="de-DE" dirty="0"/>
              <a:t>Fließtext</a:t>
            </a:r>
          </a:p>
          <a:p>
            <a:pPr lvl="4"/>
            <a:r>
              <a:rPr lang="de-DE" dirty="0"/>
              <a:t>Fließtext kursiv</a:t>
            </a:r>
          </a:p>
        </p:txBody>
      </p:sp>
    </p:spTree>
    <p:extLst>
      <p:ext uri="{BB962C8B-B14F-4D97-AF65-F5344CB8AC3E}">
        <p14:creationId xmlns:p14="http://schemas.microsoft.com/office/powerpoint/2010/main" val="197966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71" r:id="rId3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300" b="1" i="0" kern="1200">
          <a:solidFill>
            <a:srgbClr val="343433"/>
          </a:solidFill>
          <a:latin typeface="Montserrat Black" pitchFamily="2" charset="77"/>
          <a:ea typeface="+mj-ea"/>
          <a:cs typeface="+mj-cs"/>
        </a:defRPr>
      </a:lvl1pPr>
    </p:titleStyle>
    <p:bodyStyle>
      <a:lvl1pPr marL="0" indent="0" algn="l" defTabSz="2138324" rtl="0" eaLnBrk="1" latinLnBrk="0" hangingPunct="1">
        <a:lnSpc>
          <a:spcPct val="90000"/>
        </a:lnSpc>
        <a:spcBef>
          <a:spcPts val="2339"/>
        </a:spcBef>
        <a:buFontTx/>
        <a:buNone/>
        <a:defRPr sz="4400" b="0" i="1" kern="1200">
          <a:solidFill>
            <a:srgbClr val="343433"/>
          </a:solidFill>
          <a:latin typeface="Montserrat" pitchFamily="2" charset="77"/>
          <a:ea typeface="+mn-ea"/>
          <a:cs typeface="+mn-cs"/>
        </a:defRPr>
      </a:lvl1pPr>
      <a:lvl2pPr marL="1069162" indent="0" algn="l" defTabSz="2138324" rtl="0" eaLnBrk="1" latinLnBrk="0" hangingPunct="1">
        <a:lnSpc>
          <a:spcPct val="90000"/>
        </a:lnSpc>
        <a:spcBef>
          <a:spcPts val="1169"/>
        </a:spcBef>
        <a:buFontTx/>
        <a:buNone/>
        <a:defRPr sz="4400" b="1" i="0" kern="1200">
          <a:solidFill>
            <a:srgbClr val="343433"/>
          </a:solidFill>
          <a:latin typeface="Montserrat ExtraBold" pitchFamily="2" charset="77"/>
          <a:ea typeface="+mn-ea"/>
          <a:cs typeface="+mn-cs"/>
        </a:defRPr>
      </a:lvl2pPr>
      <a:lvl3pPr marL="2481225" indent="-342900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2400" b="1" i="0" kern="1200">
          <a:solidFill>
            <a:srgbClr val="343433"/>
          </a:solidFill>
          <a:latin typeface="Montserrat SemiBold" pitchFamily="2" charset="77"/>
          <a:ea typeface="+mn-ea"/>
          <a:cs typeface="+mn-cs"/>
        </a:defRPr>
      </a:lvl3pPr>
      <a:lvl4pPr marL="3207487" indent="0" algn="l" defTabSz="2138324" rtl="0" eaLnBrk="1" latinLnBrk="0" hangingPunct="1">
        <a:lnSpc>
          <a:spcPct val="90000"/>
        </a:lnSpc>
        <a:spcBef>
          <a:spcPts val="1169"/>
        </a:spcBef>
        <a:buFontTx/>
        <a:buNone/>
        <a:defRPr sz="2400" b="1" i="0" kern="1200">
          <a:solidFill>
            <a:srgbClr val="343433"/>
          </a:solidFill>
          <a:latin typeface="Montserrat SemiBold" pitchFamily="2" charset="77"/>
          <a:ea typeface="+mn-ea"/>
          <a:cs typeface="+mn-cs"/>
        </a:defRPr>
      </a:lvl4pPr>
      <a:lvl5pPr marL="4276649" indent="0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None/>
        <a:defRPr sz="2400" b="0" i="1" kern="1200">
          <a:solidFill>
            <a:srgbClr val="343433"/>
          </a:solidFill>
          <a:latin typeface="Montserrat" pitchFamily="2" charset="77"/>
          <a:ea typeface="+mn-ea"/>
          <a:cs typeface="+mn-cs"/>
        </a:defRPr>
      </a:lvl5pPr>
      <a:lvl6pPr marL="5345811" indent="0" algn="l" defTabSz="2138324" rtl="0" eaLnBrk="1" latinLnBrk="0" hangingPunct="1">
        <a:lnSpc>
          <a:spcPct val="90000"/>
        </a:lnSpc>
        <a:spcBef>
          <a:spcPts val="1169"/>
        </a:spcBef>
        <a:buFontTx/>
        <a:buNone/>
        <a:defRPr sz="3200" b="0" i="1" kern="1200">
          <a:solidFill>
            <a:schemeClr val="tx1"/>
          </a:solidFill>
          <a:latin typeface="Montserrat" pitchFamily="2" charset="77"/>
          <a:ea typeface="+mn-ea"/>
          <a:cs typeface="+mn-cs"/>
        </a:defRPr>
      </a:lvl6pPr>
      <a:lvl7pPr marL="6414973" indent="0" algn="l" defTabSz="2138324" rtl="0" eaLnBrk="1" latinLnBrk="0" hangingPunct="1">
        <a:lnSpc>
          <a:spcPct val="90000"/>
        </a:lnSpc>
        <a:spcBef>
          <a:spcPts val="1169"/>
        </a:spcBef>
        <a:buFontTx/>
        <a:buNone/>
        <a:defRPr sz="1600" b="1" i="0" kern="1200">
          <a:solidFill>
            <a:schemeClr val="tx1"/>
          </a:solidFill>
          <a:latin typeface="Montserrat SemiBold" pitchFamily="2" charset="77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4501">
          <p15:clr>
            <a:srgbClr val="F26B43"/>
          </p15:clr>
        </p15:guide>
        <p15:guide id="3" pos="12995">
          <p15:clr>
            <a:srgbClr val="F26B43"/>
          </p15:clr>
        </p15:guide>
        <p15:guide id="4" pos="6735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18607">
          <p15:clr>
            <a:srgbClr val="F26B43"/>
          </p15:clr>
        </p15:guide>
        <p15:guide id="10" pos="475">
          <p15:clr>
            <a:srgbClr val="F26B43"/>
          </p15:clr>
        </p15:guide>
        <p15:guide id="13" pos="2562">
          <p15:clr>
            <a:srgbClr val="F26B43"/>
          </p15:clr>
        </p15:guide>
        <p15:guide id="14" pos="4648">
          <p15:clr>
            <a:srgbClr val="F26B43"/>
          </p15:clr>
        </p15:guide>
        <p15:guide id="16" pos="8822">
          <p15:clr>
            <a:srgbClr val="F26B43"/>
          </p15:clr>
        </p15:guide>
        <p15:guide id="18" pos="10908">
          <p15:clr>
            <a:srgbClr val="F26B43"/>
          </p15:clr>
        </p15:guide>
        <p15:guide id="20" orient="horz" pos="6542">
          <p15:clr>
            <a:srgbClr val="F26B43"/>
          </p15:clr>
        </p15:guide>
        <p15:guide id="23" orient="horz" pos="16566">
          <p15:clr>
            <a:srgbClr val="F26B43"/>
          </p15:clr>
        </p15:guide>
        <p15:guide id="24" orient="horz" pos="2505">
          <p15:clr>
            <a:srgbClr val="F26B43"/>
          </p15:clr>
        </p15:guide>
        <p15:guide id="25" orient="horz" pos="14616">
          <p15:clr>
            <a:srgbClr val="F26B43"/>
          </p15:clr>
        </p15:guide>
        <p15:guide id="26" orient="horz" pos="8538">
          <p15:clr>
            <a:srgbClr val="F26B43"/>
          </p15:clr>
        </p15:guide>
        <p15:guide id="28" orient="horz" pos="12529">
          <p15:clr>
            <a:srgbClr val="F26B43"/>
          </p15:clr>
        </p15:guide>
        <p15:guide id="29" orient="horz" pos="10533">
          <p15:clr>
            <a:srgbClr val="F26B43"/>
          </p15:clr>
        </p15:guide>
        <p15:guide id="30" orient="horz" pos="9536">
          <p15:clr>
            <a:srgbClr val="F26B43"/>
          </p15:clr>
        </p15:guide>
        <p15:guide id="31" orient="horz" pos="1705">
          <p15:clr>
            <a:srgbClr val="F26B43"/>
          </p15:clr>
        </p15:guide>
        <p15:guide id="32" pos="702">
          <p15:clr>
            <a:srgbClr val="F26B43"/>
          </p15:clr>
        </p15:guide>
        <p15:guide id="33" pos="127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26" Type="http://schemas.openxmlformats.org/officeDocument/2006/relationships/image" Target="../media/image28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5" Type="http://schemas.openxmlformats.org/officeDocument/2006/relationships/image" Target="../media/image2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Relationship Id="rId22" Type="http://schemas.openxmlformats.org/officeDocument/2006/relationships/image" Target="../media/image24.svg"/><Relationship Id="rId27" Type="http://schemas.openxmlformats.org/officeDocument/2006/relationships/image" Target="../media/image29.svg"/><Relationship Id="rId30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194F53-6580-653C-99DA-7022762254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noProof="0" dirty="0"/>
              <a:t>Capabilities as a Solution against Tracking Across Android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3EEE1C-78CB-B90E-55A6-7357B4C1B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Tim Christmann</a:t>
            </a:r>
            <a:r>
              <a:rPr lang="en-US" dirty="0"/>
              <a:t>, Noah Mauthe, Dr. Sven Bugiel</a:t>
            </a:r>
            <a:endParaRPr lang="en-US" noProof="0" dirty="0"/>
          </a:p>
        </p:txBody>
      </p:sp>
      <p:sp>
        <p:nvSpPr>
          <p:cNvPr id="4" name="Fußzeilenplatzhalter 2">
            <a:extLst>
              <a:ext uri="{FF2B5EF4-FFF2-40B4-BE49-F238E27FC236}">
                <a16:creationId xmlns:a16="http://schemas.microsoft.com/office/drawing/2014/main" id="{1A197379-5D59-D606-6526-9A248B3086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4355108" y="28171054"/>
            <a:ext cx="15914092" cy="1152128"/>
          </a:xfrm>
        </p:spPr>
        <p:txBody>
          <a:bodyPr/>
          <a:lstStyle/>
          <a:p>
            <a:r>
              <a:rPr lang="en-US" noProof="0" dirty="0"/>
              <a:t>This poster is based on the following publications: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M. Wessels, S. Koch, J. Drescher, L. Bettels, D. Klein, and M. Johns, “Hytrack: Resurrectable and persistent tracking across android apps and the web,” </a:t>
            </a:r>
          </a:p>
          <a:p>
            <a:r>
              <a:rPr lang="en-US" dirty="0"/>
              <a:t>        </a:t>
            </a:r>
            <a:r>
              <a:rPr lang="en-US" noProof="0" dirty="0"/>
              <a:t>in 34th USENIX Security Symposium (USENIX Security 25)</a:t>
            </a:r>
          </a:p>
          <a:p>
            <a:pPr marL="342900" indent="-342900">
              <a:buFont typeface="+mj-lt"/>
              <a:buAutoNum type="arabicPeriod"/>
            </a:pPr>
            <a:endParaRPr lang="en-US" noProof="0" dirty="0"/>
          </a:p>
          <a:p>
            <a:r>
              <a:rPr lang="en-US" noProof="0" dirty="0"/>
              <a:t>GitHub</a:t>
            </a:r>
            <a:r>
              <a:rPr lang="en-US" dirty="0"/>
              <a:t>: https://github.com/timchr42/thesis</a:t>
            </a:r>
            <a:endParaRPr lang="en-US" noProof="0" dirty="0"/>
          </a:p>
        </p:txBody>
      </p:sp>
      <p:sp>
        <p:nvSpPr>
          <p:cNvPr id="5" name="Rechteck 2">
            <a:extLst>
              <a:ext uri="{FF2B5EF4-FFF2-40B4-BE49-F238E27FC236}">
                <a16:creationId xmlns:a16="http://schemas.microsoft.com/office/drawing/2014/main" id="{90BD1526-02A0-24DD-DC0D-4823A67486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7145338"/>
            <a:ext cx="6624637" cy="640873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hteck 3">
            <a:extLst>
              <a:ext uri="{FF2B5EF4-FFF2-40B4-BE49-F238E27FC236}">
                <a16:creationId xmlns:a16="http://schemas.microsoft.com/office/drawing/2014/main" id="{AA727491-93AF-22C6-C76F-0568D0C794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04925" y="7145338"/>
            <a:ext cx="6624638" cy="640873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hteck 4">
            <a:extLst>
              <a:ext uri="{FF2B5EF4-FFF2-40B4-BE49-F238E27FC236}">
                <a16:creationId xmlns:a16="http://schemas.microsoft.com/office/drawing/2014/main" id="{B82515F0-F5F5-A678-582F-1D86DFAF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8700" y="7145338"/>
            <a:ext cx="13250862" cy="6408737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hteck 6">
            <a:extLst>
              <a:ext uri="{FF2B5EF4-FFF2-40B4-BE49-F238E27FC236}">
                <a16:creationId xmlns:a16="http://schemas.microsoft.com/office/drawing/2014/main" id="{0FF59723-FC7E-8DE9-05C5-4DD09FABF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8699" y="7145338"/>
            <a:ext cx="13250862" cy="158273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hteck 7">
            <a:extLst>
              <a:ext uri="{FF2B5EF4-FFF2-40B4-BE49-F238E27FC236}">
                <a16:creationId xmlns:a16="http://schemas.microsoft.com/office/drawing/2014/main" id="{490F47C2-479B-1A4D-96C8-90EA97B6C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7145338"/>
            <a:ext cx="6624637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2991C164-9EC6-B636-A961-8803E72857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672" y="7304422"/>
            <a:ext cx="6120756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Intro &amp; Motivation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D15C7DB7-3930-0F8B-D77B-A77CF40B82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67476" y="7304422"/>
            <a:ext cx="12586484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Problem</a:t>
            </a:r>
            <a:r>
              <a:rPr lang="en-US" noProof="0" dirty="0"/>
              <a:t>: HyTrack</a:t>
            </a:r>
          </a:p>
        </p:txBody>
      </p:sp>
      <p:sp>
        <p:nvSpPr>
          <p:cNvPr id="14" name="Inhaltsplatzhalter 26">
            <a:extLst>
              <a:ext uri="{FF2B5EF4-FFF2-40B4-BE49-F238E27FC236}">
                <a16:creationId xmlns:a16="http://schemas.microsoft.com/office/drawing/2014/main" id="{B6F9731F-B0BF-13A0-8E0E-29D8828A66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425" y="9088438"/>
            <a:ext cx="5976987" cy="4105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noProof="0" dirty="0">
                <a:ea typeface="Lucida Sans" charset="0"/>
                <a:cs typeface="Lucida Sans" charset="0"/>
              </a:rPr>
              <a:t>Custom Tabs (CTs) &amp; Trusted Web Activities (TWAs) let Android apps embed content seamlessly (SSO, ads)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u="sng" dirty="0">
                <a:ea typeface="Lucida Sans" charset="0"/>
                <a:cs typeface="Lucida Sans" charset="0"/>
              </a:rPr>
              <a:t>Privacy Gap</a:t>
            </a:r>
            <a:r>
              <a:rPr lang="en-US" i="0" dirty="0">
                <a:ea typeface="Lucida Sans" charset="0"/>
                <a:cs typeface="Lucida Sans" charset="0"/>
              </a:rPr>
              <a:t>: Use of shared browser cookie jar </a:t>
            </a:r>
            <a:r>
              <a:rPr lang="en-US" i="0" dirty="0">
                <a:ea typeface="Lucida Sans" charset="0"/>
                <a:cs typeface="Lucida Sans" charset="0"/>
                <a:sym typeface="Wingdings" pitchFamily="2" charset="2"/>
              </a:rPr>
              <a:t> </a:t>
            </a:r>
            <a:r>
              <a:rPr lang="en-US" i="0" dirty="0">
                <a:ea typeface="Lucida Sans" charset="0"/>
                <a:cs typeface="Lucida Sans" charset="0"/>
              </a:rPr>
              <a:t>Third-party libraries can cross-app track (HyTrack)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a typeface="Lucida Sans" charset="0"/>
                <a:cs typeface="Lucida Sans" charset="0"/>
              </a:rPr>
              <a:t>Currently no ideal solution:</a:t>
            </a:r>
            <a:br>
              <a:rPr lang="en-US" i="0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</a:rPr>
              <a:t>e.g., Browser State Partitioning separates </a:t>
            </a:r>
            <a:r>
              <a:rPr lang="en-US" i="0" u="sng" dirty="0">
                <a:ea typeface="Lucida Sans" charset="0"/>
                <a:cs typeface="Lucida Sans" charset="0"/>
              </a:rPr>
              <a:t>all</a:t>
            </a:r>
            <a:r>
              <a:rPr lang="en-US" i="0" dirty="0">
                <a:ea typeface="Lucida Sans" charset="0"/>
                <a:cs typeface="Lucida Sans" charset="0"/>
              </a:rPr>
              <a:t> cookies </a:t>
            </a:r>
            <a:r>
              <a:rPr lang="en-US" i="0" dirty="0">
                <a:ea typeface="Lucida Sans" charset="0"/>
                <a:cs typeface="Lucida Sans" charset="0"/>
                <a:sym typeface="Wingdings" pitchFamily="2" charset="2"/>
              </a:rPr>
              <a:t> blocks SSO</a:t>
            </a:r>
            <a:endParaRPr lang="en-US" i="0" noProof="0" dirty="0">
              <a:ea typeface="Lucida Sans" charset="0"/>
              <a:cs typeface="Lucida Sans" charset="0"/>
            </a:endParaRPr>
          </a:p>
        </p:txBody>
      </p:sp>
      <p:sp>
        <p:nvSpPr>
          <p:cNvPr id="17" name="Rechteck 2">
            <a:extLst>
              <a:ext uri="{FF2B5EF4-FFF2-40B4-BE49-F238E27FC236}">
                <a16:creationId xmlns:a16="http://schemas.microsoft.com/office/drawing/2014/main" id="{AE0A6688-157E-D6C5-67CD-BCA33D61EF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13551179"/>
            <a:ext cx="19875500" cy="6338609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hteck 3">
            <a:extLst>
              <a:ext uri="{FF2B5EF4-FFF2-40B4-BE49-F238E27FC236}">
                <a16:creationId xmlns:a16="http://schemas.microsoft.com/office/drawing/2014/main" id="{2A6F08E8-D031-3DD1-AA99-ED450B12EF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13553604"/>
            <a:ext cx="19875500" cy="1582372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Textplatzhalter 3">
            <a:extLst>
              <a:ext uri="{FF2B5EF4-FFF2-40B4-BE49-F238E27FC236}">
                <a16:creationId xmlns:a16="http://schemas.microsoft.com/office/drawing/2014/main" id="{57C63162-48B1-BF7C-6508-8CDD0D5B89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672" y="13710263"/>
            <a:ext cx="19154528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Proposed Solution: Capability-Based Cookie Isolation</a:t>
            </a:r>
          </a:p>
        </p:txBody>
      </p:sp>
      <p:sp>
        <p:nvSpPr>
          <p:cNvPr id="20" name="Inhaltsplatzhalter 26">
            <a:extLst>
              <a:ext uri="{FF2B5EF4-FFF2-40B4-BE49-F238E27FC236}">
                <a16:creationId xmlns:a16="http://schemas.microsoft.com/office/drawing/2014/main" id="{39CDC9E1-C14A-A03D-D55D-76F6EE65CB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425" y="15499320"/>
            <a:ext cx="19154775" cy="41052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ea typeface="Lucida Sans" charset="0"/>
                <a:cs typeface="Lucida Sans" charset="0"/>
              </a:rPr>
              <a:t>Here you can insert content in the form of text, image or graphic. You can see how this can look like on the </a:t>
            </a:r>
            <a:r>
              <a:rPr lang="en-US" b="1" i="0" noProof="0" dirty="0">
                <a:latin typeface="Montserrat SemiBold" pitchFamily="2" charset="77"/>
                <a:ea typeface="Lucida Sans" charset="0"/>
                <a:cs typeface="Lucida Sans" charset="0"/>
              </a:rPr>
              <a:t>Example Layout</a:t>
            </a:r>
            <a:r>
              <a:rPr lang="en-US" noProof="0" dirty="0">
                <a:ea typeface="Lucida Sans" charset="0"/>
                <a:cs typeface="Lucida Sans" charset="0"/>
              </a:rPr>
              <a:t> slide.</a:t>
            </a:r>
          </a:p>
        </p:txBody>
      </p:sp>
      <p:sp>
        <p:nvSpPr>
          <p:cNvPr id="33" name="Rechteck 2">
            <a:extLst>
              <a:ext uri="{FF2B5EF4-FFF2-40B4-BE49-F238E27FC236}">
                <a16:creationId xmlns:a16="http://schemas.microsoft.com/office/drawing/2014/main" id="{CAFE7619-F836-083A-F321-3A6223D6E7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15160504"/>
            <a:ext cx="6624637" cy="633571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Rechteck 3">
            <a:extLst>
              <a:ext uri="{FF2B5EF4-FFF2-40B4-BE49-F238E27FC236}">
                <a16:creationId xmlns:a16="http://schemas.microsoft.com/office/drawing/2014/main" id="{E66E06AD-522E-997A-9626-EAA48CB0E9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04925" y="15160504"/>
            <a:ext cx="6624638" cy="633571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Rechteck 4">
            <a:extLst>
              <a:ext uri="{FF2B5EF4-FFF2-40B4-BE49-F238E27FC236}">
                <a16:creationId xmlns:a16="http://schemas.microsoft.com/office/drawing/2014/main" id="{A1E84C86-BDAF-2181-9214-9306A58C9D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8700" y="15160504"/>
            <a:ext cx="6626225" cy="6335713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" name="Rechteck 5">
            <a:extLst>
              <a:ext uri="{FF2B5EF4-FFF2-40B4-BE49-F238E27FC236}">
                <a16:creationId xmlns:a16="http://schemas.microsoft.com/office/drawing/2014/main" id="{FFC23869-6AD5-1FF3-00FC-BC07D7D610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04925" y="15154991"/>
            <a:ext cx="6624638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hteck 6">
            <a:extLst>
              <a:ext uri="{FF2B5EF4-FFF2-40B4-BE49-F238E27FC236}">
                <a16:creationId xmlns:a16="http://schemas.microsoft.com/office/drawing/2014/main" id="{491B9270-5455-C043-4EB3-134B519832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8699" y="15152567"/>
            <a:ext cx="6626225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hteck 7">
            <a:extLst>
              <a:ext uri="{FF2B5EF4-FFF2-40B4-BE49-F238E27FC236}">
                <a16:creationId xmlns:a16="http://schemas.microsoft.com/office/drawing/2014/main" id="{DB9BBF10-4B1D-0086-B43F-59CDBB90B7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15152567"/>
            <a:ext cx="6624637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platzhalter 3">
            <a:extLst>
              <a:ext uri="{FF2B5EF4-FFF2-40B4-BE49-F238E27FC236}">
                <a16:creationId xmlns:a16="http://schemas.microsoft.com/office/drawing/2014/main" id="{475E01BD-3DD4-9F06-CF1A-5E786A7CA71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672" y="15319588"/>
            <a:ext cx="6120756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Key Idea</a:t>
            </a:r>
          </a:p>
        </p:txBody>
      </p:sp>
      <p:sp>
        <p:nvSpPr>
          <p:cNvPr id="40" name="Textplatzhalter 3">
            <a:extLst>
              <a:ext uri="{FF2B5EF4-FFF2-40B4-BE49-F238E27FC236}">
                <a16:creationId xmlns:a16="http://schemas.microsoft.com/office/drawing/2014/main" id="{3F533A30-4744-9144-4F80-B413C4BC4E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67476" y="15319588"/>
            <a:ext cx="6048672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Capability Token</a:t>
            </a:r>
          </a:p>
        </p:txBody>
      </p:sp>
      <p:sp>
        <p:nvSpPr>
          <p:cNvPr id="41" name="Textplatzhalter 3">
            <a:extLst>
              <a:ext uri="{FF2B5EF4-FFF2-40B4-BE49-F238E27FC236}">
                <a16:creationId xmlns:a16="http://schemas.microsoft.com/office/drawing/2014/main" id="{E99BACC2-55C0-F057-209D-29B48D66C2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92212" y="15319588"/>
            <a:ext cx="5986100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Benefits</a:t>
            </a:r>
          </a:p>
        </p:txBody>
      </p:sp>
      <p:sp>
        <p:nvSpPr>
          <p:cNvPr id="42" name="Inhaltsplatzhalter 26">
            <a:extLst>
              <a:ext uri="{FF2B5EF4-FFF2-40B4-BE49-F238E27FC236}">
                <a16:creationId xmlns:a16="http://schemas.microsoft.com/office/drawing/2014/main" id="{D914353A-06EF-8E04-4894-3FE65F5975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4425" y="17103604"/>
            <a:ext cx="5976987" cy="41052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0" dirty="0">
                <a:ea typeface="Lucida Sans" charset="0"/>
                <a:cs typeface="Lucida Sans" charset="0"/>
              </a:rPr>
              <a:t>Block HyTrack by scoping untrusted domains to app-local jars, while letting trusted sites share cookies.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0" dirty="0">
                <a:ea typeface="Lucida Sans" charset="0"/>
                <a:cs typeface="Lucida Sans" charset="0"/>
              </a:rPr>
              <a:t>Developer-defined policy</a:t>
            </a:r>
            <a:br>
              <a:rPr lang="en-US" i="0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</a:rPr>
              <a:t>List trusted vs. untrusted domains (domain, store location)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0" dirty="0">
                <a:ea typeface="Lucida Sans" charset="0"/>
                <a:cs typeface="Lucida Sans" charset="0"/>
              </a:rPr>
              <a:t>Browser as PEP</a:t>
            </a:r>
            <a:br>
              <a:rPr lang="en-US" i="0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</a:rPr>
              <a:t>On each CT/TWA launch, the policy is enforced: the browser either stores cookies in global jar or confines them to the app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dirty="0">
              <a:ea typeface="Lucida Sans" charset="0"/>
              <a:cs typeface="Lucida Sans" charset="0"/>
            </a:endParaRPr>
          </a:p>
        </p:txBody>
      </p:sp>
      <p:sp>
        <p:nvSpPr>
          <p:cNvPr id="43" name="Inhaltsplatzhalter 26">
            <a:extLst>
              <a:ext uri="{FF2B5EF4-FFF2-40B4-BE49-F238E27FC236}">
                <a16:creationId xmlns:a16="http://schemas.microsoft.com/office/drawing/2014/main" id="{DA1CB01B-D18C-C15B-644E-E8FF0FABBB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1794" y="17103604"/>
            <a:ext cx="5976987" cy="41052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ea typeface="Lucida Sans" charset="0"/>
                <a:cs typeface="Lucida Sans" charset="0"/>
              </a:rPr>
              <a:t>A signed JWT-style wrapper that encodes the cookie and metadata: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b="0" i="0" dirty="0">
                <a:ea typeface="Lucida Sans" charset="0"/>
                <a:cs typeface="Lucida Sans" charset="0"/>
              </a:rPr>
              <a:t>App ID &amp; Version Number, Domain, Rights, Global-jar flag</a:t>
            </a:r>
          </a:p>
          <a:p>
            <a:r>
              <a:rPr lang="en-US" i="0" u="sng" dirty="0">
                <a:ea typeface="Lucida Sans" charset="0"/>
                <a:cs typeface="Lucida Sans" charset="0"/>
              </a:rPr>
              <a:t>Different Types: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ea typeface="Lucida Sans" charset="0"/>
                <a:cs typeface="Lucida Sans" charset="0"/>
              </a:rPr>
              <a:t>Wildcard Cap</a:t>
            </a:r>
            <a:r>
              <a:rPr lang="en-US" i="0" dirty="0">
                <a:ea typeface="Lucida Sans" charset="0"/>
                <a:cs typeface="Lucida Sans" charset="0"/>
              </a:rPr>
              <a:t>: Empty name &amp;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ea typeface="Lucida Sans" charset="0"/>
                <a:cs typeface="Lucida Sans" charset="0"/>
              </a:rPr>
              <a:t>Predefined Cap</a:t>
            </a:r>
            <a:r>
              <a:rPr lang="en-US" i="0" dirty="0">
                <a:ea typeface="Lucida Sans" charset="0"/>
                <a:cs typeface="Lucida Sans" charset="0"/>
              </a:rPr>
              <a:t>: Predefined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ea typeface="Lucida Sans" charset="0"/>
                <a:cs typeface="Lucida Sans" charset="0"/>
              </a:rPr>
              <a:t>Ambient Cap</a:t>
            </a:r>
            <a:r>
              <a:rPr lang="en-US" i="0" dirty="0">
                <a:ea typeface="Lucida Sans" charset="0"/>
                <a:cs typeface="Lucida Sans" charset="0"/>
              </a:rPr>
              <a:t>: Global-jar flag set</a:t>
            </a:r>
          </a:p>
        </p:txBody>
      </p:sp>
      <p:sp>
        <p:nvSpPr>
          <p:cNvPr id="44" name="Inhaltsplatzhalter 26">
            <a:extLst>
              <a:ext uri="{FF2B5EF4-FFF2-40B4-BE49-F238E27FC236}">
                <a16:creationId xmlns:a16="http://schemas.microsoft.com/office/drawing/2014/main" id="{5ECAABAF-2B64-B09B-EDEE-F29228FE75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76973" y="17103604"/>
            <a:ext cx="5976987" cy="410527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en-US" b="1" noProof="0" dirty="0">
                <a:ea typeface="Lucida Sans" charset="0"/>
                <a:cs typeface="Lucida Sans" charset="0"/>
              </a:rPr>
              <a:t>Fine-Grained Control:</a:t>
            </a:r>
            <a:r>
              <a:rPr lang="en-US" noProof="0" dirty="0">
                <a:ea typeface="Lucida Sans" charset="0"/>
                <a:cs typeface="Lucida Sans" charset="0"/>
              </a:rPr>
              <a:t> </a:t>
            </a:r>
            <a:br>
              <a:rPr lang="en-US" noProof="0" dirty="0">
                <a:ea typeface="Lucida Sans" charset="0"/>
                <a:cs typeface="Lucida Sans" charset="0"/>
              </a:rPr>
            </a:br>
            <a:r>
              <a:rPr lang="en-US" i="0" noProof="0" dirty="0">
                <a:ea typeface="Lucida Sans" charset="0"/>
                <a:cs typeface="Lucida Sans" charset="0"/>
              </a:rPr>
              <a:t>Developer specifies which cookies are shared or isolated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>
                <a:ea typeface="Lucida Sans" charset="0"/>
                <a:cs typeface="Lucida Sans" charset="0"/>
              </a:rPr>
              <a:t>No Browser State for Apps:</a:t>
            </a:r>
            <a:br>
              <a:rPr lang="en-US" b="1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</a:rPr>
              <a:t>App holds and sends capabilities</a:t>
            </a:r>
            <a:endParaRPr lang="en-US" dirty="0">
              <a:ea typeface="Lucida Sans" charset="0"/>
              <a:cs typeface="Lucida Sans" charset="0"/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b="1" noProof="0" dirty="0">
                <a:ea typeface="Lucida Sans" charset="0"/>
                <a:cs typeface="Lucida Sans" charset="0"/>
              </a:rPr>
              <a:t>No Third-Party Code Changes:</a:t>
            </a:r>
            <a:r>
              <a:rPr lang="en-US" noProof="0" dirty="0">
                <a:ea typeface="Lucida Sans" charset="0"/>
                <a:cs typeface="Lucida Sans" charset="0"/>
              </a:rPr>
              <a:t> </a:t>
            </a:r>
            <a:br>
              <a:rPr lang="en-US" noProof="0" dirty="0">
                <a:ea typeface="Lucida Sans" charset="0"/>
                <a:cs typeface="Lucida Sans" charset="0"/>
              </a:rPr>
            </a:br>
            <a:r>
              <a:rPr lang="en-US" i="0" noProof="0" dirty="0">
                <a:ea typeface="Lucida Sans" charset="0"/>
                <a:cs typeface="Lucida Sans" charset="0"/>
              </a:rPr>
              <a:t>All cap management in browser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>
                <a:ea typeface="Lucida Sans" charset="0"/>
                <a:cs typeface="Lucida Sans" charset="0"/>
              </a:rPr>
              <a:t>Backwards Compatibility:</a:t>
            </a:r>
            <a:r>
              <a:rPr lang="en-US" dirty="0">
                <a:ea typeface="Lucida Sans" charset="0"/>
                <a:cs typeface="Lucida Sans" charset="0"/>
              </a:rPr>
              <a:t> </a:t>
            </a:r>
            <a:br>
              <a:rPr lang="en-US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</a:rPr>
              <a:t>No policy</a:t>
            </a:r>
            <a:r>
              <a:rPr lang="en-US" i="0" dirty="0">
                <a:ea typeface="Lucida Sans" charset="0"/>
                <a:cs typeface="Lucida Sans" charset="0"/>
                <a:sym typeface="Wingdings" pitchFamily="2" charset="2"/>
              </a:rPr>
              <a:t> Ambient Cap state-of-the-art behavior (shared jar)</a:t>
            </a:r>
            <a:endParaRPr lang="en-US" i="0" noProof="0" dirty="0">
              <a:ea typeface="Lucida Sans" charset="0"/>
              <a:cs typeface="Lucida Sans" charset="0"/>
            </a:endParaRPr>
          </a:p>
        </p:txBody>
      </p:sp>
      <p:sp>
        <p:nvSpPr>
          <p:cNvPr id="57" name="Rechteck 2">
            <a:extLst>
              <a:ext uri="{FF2B5EF4-FFF2-40B4-BE49-F238E27FC236}">
                <a16:creationId xmlns:a16="http://schemas.microsoft.com/office/drawing/2014/main" id="{5CB75CE7-179D-2982-927D-3FF10A47FC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21491176"/>
            <a:ext cx="6624637" cy="6553074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" name="Rechteck 3">
            <a:extLst>
              <a:ext uri="{FF2B5EF4-FFF2-40B4-BE49-F238E27FC236}">
                <a16:creationId xmlns:a16="http://schemas.microsoft.com/office/drawing/2014/main" id="{0991A477-F085-65EA-76A2-02311479CC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04925" y="21491176"/>
            <a:ext cx="6624638" cy="6553074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Rechteck 4">
            <a:extLst>
              <a:ext uri="{FF2B5EF4-FFF2-40B4-BE49-F238E27FC236}">
                <a16:creationId xmlns:a16="http://schemas.microsoft.com/office/drawing/2014/main" id="{FECC9075-0BED-A0C4-5B67-1C3255C02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2" y="21491176"/>
            <a:ext cx="13250863" cy="6553074"/>
          </a:xfrm>
          <a:prstGeom prst="rect">
            <a:avLst/>
          </a:prstGeom>
          <a:solidFill>
            <a:schemeClr val="bg1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Rechteck 5">
            <a:extLst>
              <a:ext uri="{FF2B5EF4-FFF2-40B4-BE49-F238E27FC236}">
                <a16:creationId xmlns:a16="http://schemas.microsoft.com/office/drawing/2014/main" id="{3DEC138E-3948-2BC4-FE69-8C66FC45EC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004925" y="21493600"/>
            <a:ext cx="6624638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" name="Rechteck 6">
            <a:extLst>
              <a:ext uri="{FF2B5EF4-FFF2-40B4-BE49-F238E27FC236}">
                <a16:creationId xmlns:a16="http://schemas.microsoft.com/office/drawing/2014/main" id="{E74A32A3-1AA9-5363-35B6-A82F8F2521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8699" y="21491176"/>
            <a:ext cx="6626225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" name="Rechteck 7">
            <a:extLst>
              <a:ext uri="{FF2B5EF4-FFF2-40B4-BE49-F238E27FC236}">
                <a16:creationId xmlns:a16="http://schemas.microsoft.com/office/drawing/2014/main" id="{A339960D-1A77-3AF7-4E00-3E5DE37694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54063" y="21491176"/>
            <a:ext cx="13250861" cy="1584797"/>
          </a:xfrm>
          <a:prstGeom prst="rect">
            <a:avLst/>
          </a:prstGeom>
          <a:solidFill>
            <a:srgbClr val="C8E7E9"/>
          </a:solidFill>
          <a:ln w="57150">
            <a:solidFill>
              <a:srgbClr val="343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3" name="Textplatzhalter 3">
            <a:extLst>
              <a:ext uri="{FF2B5EF4-FFF2-40B4-BE49-F238E27FC236}">
                <a16:creationId xmlns:a16="http://schemas.microsoft.com/office/drawing/2014/main" id="{B0AAAF98-D502-31A2-7F41-140A86B97357}"/>
              </a:ext>
            </a:extLst>
          </p:cNvPr>
          <p:cNvSpPr txBox="1">
            <a:spLocks/>
          </p:cNvSpPr>
          <p:nvPr/>
        </p:nvSpPr>
        <p:spPr>
          <a:xfrm>
            <a:off x="1114672" y="21650260"/>
            <a:ext cx="12601476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Cookie Handling Flow</a:t>
            </a:r>
          </a:p>
        </p:txBody>
      </p:sp>
      <p:sp>
        <p:nvSpPr>
          <p:cNvPr id="65" name="Textplatzhalter 3">
            <a:extLst>
              <a:ext uri="{FF2B5EF4-FFF2-40B4-BE49-F238E27FC236}">
                <a16:creationId xmlns:a16="http://schemas.microsoft.com/office/drawing/2014/main" id="{19B3533B-3141-190C-5DDB-2BDCDFEC5B7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92212" y="21650260"/>
            <a:ext cx="5986100" cy="12810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6"/>
                </a:solidFill>
              </a:rPr>
              <a:t>Causes</a:t>
            </a:r>
            <a:r>
              <a:rPr lang="en-US" dirty="0"/>
              <a:t> &amp; </a:t>
            </a:r>
            <a:r>
              <a:rPr lang="en-US" dirty="0">
                <a:solidFill>
                  <a:schemeClr val="tx2"/>
                </a:solidFill>
              </a:rPr>
              <a:t>Fixes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68" name="Inhaltsplatzhalter 26">
            <a:extLst>
              <a:ext uri="{FF2B5EF4-FFF2-40B4-BE49-F238E27FC236}">
                <a16:creationId xmlns:a16="http://schemas.microsoft.com/office/drawing/2014/main" id="{F7CB1CDB-D692-D8D7-6A66-FAA3BC689A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276973" y="23434276"/>
            <a:ext cx="5976987" cy="430473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Tx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1pPr>
            <a:lvl2pPr marL="1069162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4400" b="1" i="0" kern="1200">
                <a:solidFill>
                  <a:srgbClr val="343433"/>
                </a:solidFill>
                <a:latin typeface="Montserrat ExtraBold" pitchFamily="2" charset="77"/>
                <a:ea typeface="+mn-ea"/>
                <a:cs typeface="+mn-cs"/>
              </a:defRPr>
            </a:lvl2pPr>
            <a:lvl3pPr marL="2481225" indent="-34290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3pPr>
            <a:lvl4pPr marL="3207487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2400" b="1" i="0" kern="1200">
                <a:solidFill>
                  <a:srgbClr val="343433"/>
                </a:solidFill>
                <a:latin typeface="Montserrat SemiBold" pitchFamily="2" charset="77"/>
                <a:ea typeface="+mn-ea"/>
                <a:cs typeface="+mn-cs"/>
              </a:defRPr>
            </a:lvl4pPr>
            <a:lvl5pPr marL="4276649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2400" b="0" i="1" kern="1200">
                <a:solidFill>
                  <a:srgbClr val="343433"/>
                </a:solidFill>
                <a:latin typeface="Montserrat" pitchFamily="2" charset="77"/>
                <a:ea typeface="+mn-ea"/>
                <a:cs typeface="+mn-cs"/>
              </a:defRPr>
            </a:lvl5pPr>
            <a:lvl6pPr marL="5345811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3200" b="0" i="1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6pPr>
            <a:lvl7pPr marL="6414973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Tx/>
              <a:buNone/>
              <a:defRPr sz="1600" b="1" i="0" kern="1200">
                <a:solidFill>
                  <a:schemeClr val="tx1"/>
                </a:solidFill>
                <a:latin typeface="Montserrat SemiBold" pitchFamily="2" charset="77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noProof="0" dirty="0">
                <a:solidFill>
                  <a:schemeClr val="accent6"/>
                </a:solidFill>
                <a:ea typeface="Lucida Sans" charset="0"/>
                <a:cs typeface="Lucida Sans" charset="0"/>
              </a:rPr>
              <a:t>All apps using CTs/</a:t>
            </a:r>
            <a:r>
              <a:rPr lang="en-US" i="0" dirty="0">
                <a:solidFill>
                  <a:schemeClr val="accent6"/>
                </a:solidFill>
                <a:ea typeface="Lucida Sans" charset="0"/>
                <a:cs typeface="Lucida Sans" charset="0"/>
              </a:rPr>
              <a:t>TWAs implicitly share cookies</a:t>
            </a:r>
            <a:br>
              <a:rPr lang="en-US" i="0" dirty="0"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  <a:sym typeface="Wingdings" pitchFamily="2" charset="2"/>
              </a:rPr>
              <a:t> </a:t>
            </a:r>
            <a:r>
              <a:rPr lang="en-US" i="0" dirty="0">
                <a:solidFill>
                  <a:schemeClr val="tx2"/>
                </a:solidFill>
                <a:ea typeface="Lucida Sans" charset="0"/>
                <a:cs typeface="Lucida Sans" charset="0"/>
                <a:sym typeface="Wingdings" pitchFamily="2" charset="2"/>
              </a:rPr>
              <a:t>Cookie management depends on capabilities</a:t>
            </a:r>
            <a:endParaRPr lang="en-US" i="0" dirty="0">
              <a:solidFill>
                <a:schemeClr val="tx2"/>
              </a:solidFill>
              <a:ea typeface="Lucida Sans" charset="0"/>
              <a:cs typeface="Lucida Sans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chemeClr val="accent6"/>
                </a:solidFill>
                <a:ea typeface="Lucida Sans" charset="0"/>
                <a:cs typeface="Lucida Sans" charset="0"/>
              </a:rPr>
              <a:t>Browser is limited in knowledge of app-context (forgets after request)</a:t>
            </a:r>
            <a:br>
              <a:rPr lang="en-US" i="0" dirty="0">
                <a:solidFill>
                  <a:schemeClr val="accent6"/>
                </a:solidFill>
                <a:ea typeface="Lucida Sans" charset="0"/>
                <a:cs typeface="Lucida Sans" charset="0"/>
              </a:rPr>
            </a:br>
            <a:r>
              <a:rPr lang="en-US" i="0" dirty="0">
                <a:ea typeface="Lucida Sans" charset="0"/>
                <a:cs typeface="Lucida Sans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2"/>
                </a:solidFill>
                <a:ea typeface="Lucida Sans" charset="0"/>
                <a:cs typeface="Lucida Sans" charset="0"/>
                <a:sym typeface="Wingdings" pitchFamily="2" charset="2"/>
              </a:rPr>
              <a:t>App ID allows for </a:t>
            </a:r>
            <a:r>
              <a:rPr lang="en-US" i="0" dirty="0">
                <a:solidFill>
                  <a:schemeClr val="tx2"/>
                </a:solidFill>
                <a:ea typeface="Lucida Sans" charset="0"/>
                <a:cs typeface="Lucida Sans" charset="0"/>
                <a:sym typeface="Wingdings" pitchFamily="2" charset="2"/>
              </a:rPr>
              <a:t>per-app cookie policies</a:t>
            </a:r>
            <a:endParaRPr lang="en-US" i="0" dirty="0">
              <a:solidFill>
                <a:schemeClr val="tx2"/>
              </a:solidFill>
              <a:ea typeface="Lucida Sans" charset="0"/>
              <a:cs typeface="Lucida Sans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noProof="0" dirty="0">
                <a:solidFill>
                  <a:schemeClr val="accent6"/>
                </a:solidFill>
                <a:ea typeface="Lucida Sans" charset="0"/>
                <a:cs typeface="Lucida Sans" charset="0"/>
              </a:rPr>
              <a:t>Third-party libs gain unrestricted access to the shared browser jar </a:t>
            </a:r>
            <a:br>
              <a:rPr lang="en-US" i="0" noProof="0" dirty="0">
                <a:ea typeface="Lucida Sans" charset="0"/>
                <a:cs typeface="Lucida Sans" charset="0"/>
              </a:rPr>
            </a:br>
            <a:r>
              <a:rPr lang="en-US" i="0" noProof="0" dirty="0">
                <a:ea typeface="Lucida Sans" charset="0"/>
                <a:cs typeface="Lucida Sans" charset="0"/>
                <a:sym typeface="Wingdings" pitchFamily="2" charset="2"/>
              </a:rPr>
              <a:t> </a:t>
            </a:r>
            <a:r>
              <a:rPr lang="en-US" i="0" noProof="0" dirty="0">
                <a:solidFill>
                  <a:schemeClr val="tx2"/>
                </a:solidFill>
                <a:ea typeface="Lucida Sans" charset="0"/>
                <a:cs typeface="Lucida Sans" charset="0"/>
                <a:sym typeface="Wingdings" pitchFamily="2" charset="2"/>
              </a:rPr>
              <a:t>Malicious third-party domains are confined to app-local storage</a:t>
            </a:r>
            <a:endParaRPr lang="en-US" i="0" u="sng" dirty="0">
              <a:solidFill>
                <a:schemeClr val="tx2"/>
              </a:solidFill>
              <a:ea typeface="Lucida Sans" charset="0"/>
              <a:cs typeface="Lucida Sans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0" u="sng" noProof="0" dirty="0">
              <a:ea typeface="Lucida Sans" charset="0"/>
              <a:cs typeface="Lucida Sans" charset="0"/>
            </a:endParaRPr>
          </a:p>
        </p:txBody>
      </p:sp>
      <p:pic>
        <p:nvPicPr>
          <p:cNvPr id="80" name="Graphic 79" descr="Smart Phone outline">
            <a:extLst>
              <a:ext uri="{FF2B5EF4-FFF2-40B4-BE49-F238E27FC236}">
                <a16:creationId xmlns:a16="http://schemas.microsoft.com/office/drawing/2014/main" id="{C9968E1A-CB1C-3A32-AA43-AA5320A7A7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26765" y="9707957"/>
            <a:ext cx="3643993" cy="3643993"/>
          </a:xfrm>
          <a:prstGeom prst="rect">
            <a:avLst/>
          </a:prstGeom>
        </p:spPr>
      </p:pic>
      <p:pic>
        <p:nvPicPr>
          <p:cNvPr id="81" name="Graphic 80" descr="Server with solid fill">
            <a:extLst>
              <a:ext uri="{FF2B5EF4-FFF2-40B4-BE49-F238E27FC236}">
                <a16:creationId xmlns:a16="http://schemas.microsoft.com/office/drawing/2014/main" id="{37EC538C-AB6B-94A3-0436-1E3CA051AA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392865" y="9072636"/>
            <a:ext cx="871768" cy="871768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74534683-C651-CD19-3599-157C3A645422}"/>
              </a:ext>
            </a:extLst>
          </p:cNvPr>
          <p:cNvSpPr txBox="1">
            <a:spLocks/>
          </p:cNvSpPr>
          <p:nvPr/>
        </p:nvSpPr>
        <p:spPr>
          <a:xfrm>
            <a:off x="12743608" y="9107943"/>
            <a:ext cx="1535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Browser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FD34E99-EFAC-1D61-F778-42552784A2F7}"/>
              </a:ext>
            </a:extLst>
          </p:cNvPr>
          <p:cNvSpPr txBox="1">
            <a:spLocks/>
          </p:cNvSpPr>
          <p:nvPr/>
        </p:nvSpPr>
        <p:spPr>
          <a:xfrm>
            <a:off x="17218149" y="9143698"/>
            <a:ext cx="212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Web Server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6BD71D-02DB-57F0-4AA5-755D0816E1EC}"/>
              </a:ext>
            </a:extLst>
          </p:cNvPr>
          <p:cNvSpPr txBox="1">
            <a:spLocks/>
          </p:cNvSpPr>
          <p:nvPr/>
        </p:nvSpPr>
        <p:spPr>
          <a:xfrm>
            <a:off x="8187099" y="9158555"/>
            <a:ext cx="1507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Phone</a:t>
            </a:r>
          </a:p>
        </p:txBody>
      </p:sp>
      <p:pic>
        <p:nvPicPr>
          <p:cNvPr id="85" name="Graphic 84" descr="Badge 1 with solid fill">
            <a:extLst>
              <a:ext uri="{FF2B5EF4-FFF2-40B4-BE49-F238E27FC236}">
                <a16:creationId xmlns:a16="http://schemas.microsoft.com/office/drawing/2014/main" id="{EB9DF629-FA52-CB3D-95B1-E882C9EE7D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491561" y="10572983"/>
            <a:ext cx="914400" cy="914400"/>
          </a:xfrm>
          <a:prstGeom prst="rect">
            <a:avLst/>
          </a:prstGeom>
        </p:spPr>
      </p:pic>
      <p:pic>
        <p:nvPicPr>
          <p:cNvPr id="86" name="Graphic 85" descr="Badge with solid fill">
            <a:extLst>
              <a:ext uri="{FF2B5EF4-FFF2-40B4-BE49-F238E27FC236}">
                <a16:creationId xmlns:a16="http://schemas.microsoft.com/office/drawing/2014/main" id="{B3199D41-F253-6D1C-0C7E-1E78FD38F5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491561" y="11487383"/>
            <a:ext cx="914400" cy="9144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BEDFC6A9-F4AD-7EA4-A466-70C620665F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69178" y="8934313"/>
            <a:ext cx="694686" cy="808924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CA944476-C916-E0A3-80DF-14816407D39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761613" y="9893901"/>
            <a:ext cx="179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itchFamily="2" charset="77"/>
              </a:rPr>
              <a:t>ad.com</a:t>
            </a:r>
          </a:p>
        </p:txBody>
      </p:sp>
      <p:pic>
        <p:nvPicPr>
          <p:cNvPr id="89" name="Graphic 88" descr="Lock with solid fill">
            <a:extLst>
              <a:ext uri="{FF2B5EF4-FFF2-40B4-BE49-F238E27FC236}">
                <a16:creationId xmlns:a16="http://schemas.microsoft.com/office/drawing/2014/main" id="{24B59B6B-FED7-7229-4155-6293B7B2ED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72455" y="9969171"/>
            <a:ext cx="311126" cy="311126"/>
          </a:xfrm>
          <a:prstGeom prst="rect">
            <a:avLst/>
          </a:prstGeom>
        </p:spPr>
      </p:pic>
      <p:cxnSp>
        <p:nvCxnSpPr>
          <p:cNvPr id="90" name="Curved Connector 51">
            <a:extLst>
              <a:ext uri="{FF2B5EF4-FFF2-40B4-BE49-F238E27FC236}">
                <a16:creationId xmlns:a16="http://schemas.microsoft.com/office/drawing/2014/main" id="{E681E1A3-DF8D-6748-6A30-F4336E620EB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9404833" y="9179477"/>
            <a:ext cx="3310788" cy="1760634"/>
          </a:xfrm>
          <a:prstGeom prst="bentConnector3">
            <a:avLst>
              <a:gd name="adj1" fmla="val 43357"/>
            </a:avLst>
          </a:prstGeom>
          <a:ln w="381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55">
            <a:extLst>
              <a:ext uri="{FF2B5EF4-FFF2-40B4-BE49-F238E27FC236}">
                <a16:creationId xmlns:a16="http://schemas.microsoft.com/office/drawing/2014/main" id="{456868F4-5C23-F9C1-7F0B-DBE4886C40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5089598" y="9150127"/>
            <a:ext cx="2135121" cy="1"/>
          </a:xfrm>
          <a:prstGeom prst="bentConnector3">
            <a:avLst>
              <a:gd name="adj1" fmla="val 48917"/>
            </a:avLst>
          </a:prstGeom>
          <a:ln w="38100">
            <a:solidFill>
              <a:schemeClr val="accent4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BC37F45-2141-D37D-3D6F-5A1126336F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553920" y="9893902"/>
            <a:ext cx="1872208" cy="3272101"/>
          </a:xfrm>
          <a:prstGeom prst="rect">
            <a:avLst/>
          </a:prstGeom>
          <a:noFill/>
          <a:ln w="50800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E7F8A68-9F92-7C22-ED7F-9229DD0519B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2646055" y="10355566"/>
            <a:ext cx="1675393" cy="0"/>
          </a:xfrm>
          <a:prstGeom prst="line">
            <a:avLst/>
          </a:prstGeom>
          <a:ln w="508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aphic 93" descr="Tag outline">
            <a:extLst>
              <a:ext uri="{FF2B5EF4-FFF2-40B4-BE49-F238E27FC236}">
                <a16:creationId xmlns:a16="http://schemas.microsoft.com/office/drawing/2014/main" id="{57BD9D2D-23AE-5873-BDA4-3F417E05F7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798993" y="10676173"/>
            <a:ext cx="1268410" cy="1268410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CADEFD83-01A2-3DE5-457E-A83F496A996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694701" y="10418284"/>
            <a:ext cx="157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" pitchFamily="2" charset="77"/>
              </a:rPr>
              <a:t>Sale!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C947FB2-F310-CF1A-A75B-2614BF33877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486030" y="11862125"/>
            <a:ext cx="19954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" pitchFamily="2" charset="77"/>
              </a:rPr>
              <a:t>42% OFF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3B763A2-E30B-56BF-209C-F5C24665A6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731103" y="12448062"/>
            <a:ext cx="1507914" cy="46342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CD0897-188A-A65C-9FF9-2C9809D625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24425" y="12412532"/>
            <a:ext cx="1118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" pitchFamily="2" charset="77"/>
              </a:rPr>
              <a:t>Back</a:t>
            </a: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585845D8-B067-AE8B-91AD-1E196631293C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467792676"/>
              </p:ext>
            </p:extLst>
          </p:nvPr>
        </p:nvGraphicFramePr>
        <p:xfrm>
          <a:off x="17248328" y="11372811"/>
          <a:ext cx="2037300" cy="17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799">
                  <a:extLst>
                    <a:ext uri="{9D8B030D-6E8A-4147-A177-3AD203B41FA5}">
                      <a16:colId xmlns:a16="http://schemas.microsoft.com/office/drawing/2014/main" val="3874441512"/>
                    </a:ext>
                  </a:extLst>
                </a:gridCol>
                <a:gridCol w="1294501">
                  <a:extLst>
                    <a:ext uri="{9D8B030D-6E8A-4147-A177-3AD203B41FA5}">
                      <a16:colId xmlns:a16="http://schemas.microsoft.com/office/drawing/2014/main" val="3066766870"/>
                    </a:ext>
                  </a:extLst>
                </a:gridCol>
              </a:tblGrid>
              <a:tr h="468048"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43433"/>
                          </a:solidFill>
                          <a:effectLst/>
                          <a:uLnTx/>
                          <a:uFillTx/>
                          <a:latin typeface="Montserrat" pitchFamily="2" charset="77"/>
                          <a:ea typeface="+mn-ea"/>
                          <a:cs typeface="+mn-cs"/>
                        </a:rPr>
                        <a:t>Id</a:t>
                      </a:r>
                      <a:endParaRPr lang="en-US" sz="2400" b="1" dirty="0"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2138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43433"/>
                          </a:solidFill>
                          <a:effectLst/>
                          <a:uLnTx/>
                          <a:uFillTx/>
                          <a:latin typeface="Montserrat" pitchFamily="2" charset="77"/>
                          <a:ea typeface="+mn-ea"/>
                          <a:cs typeface="+mn-cs"/>
                        </a:rPr>
                        <a:t>Test</a:t>
                      </a:r>
                      <a:endParaRPr lang="en-US" sz="2400" b="1" dirty="0"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36413"/>
                  </a:ext>
                </a:extLst>
              </a:tr>
              <a:tr h="66203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Montserrat" pitchFamily="2" charset="77"/>
                        </a:rPr>
                        <a:t>1x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Montserrat" pitchFamily="2" charset="77"/>
                      </a:endParaRP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779397"/>
                  </a:ext>
                </a:extLst>
              </a:tr>
              <a:tr h="66203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Montserrat" pitchFamily="2" charset="77"/>
                        </a:rPr>
                        <a:t>2y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Montserrat" pitchFamily="2" charset="77"/>
                        </a:rPr>
                        <a:t>…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84310"/>
                  </a:ext>
                </a:extLst>
              </a:tr>
            </a:tbl>
          </a:graphicData>
        </a:graphic>
      </p:graphicFrame>
      <p:pic>
        <p:nvPicPr>
          <p:cNvPr id="100" name="Graphic 99" descr="Database with solid fill">
            <a:extLst>
              <a:ext uri="{FF2B5EF4-FFF2-40B4-BE49-F238E27FC236}">
                <a16:creationId xmlns:a16="http://schemas.microsoft.com/office/drawing/2014/main" id="{5980AC69-F628-BE58-83A4-90702F551F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9371549" y="11732875"/>
            <a:ext cx="914400" cy="914400"/>
          </a:xfrm>
          <a:prstGeom prst="rect">
            <a:avLst/>
          </a:prstGeom>
        </p:spPr>
      </p:pic>
      <p:pic>
        <p:nvPicPr>
          <p:cNvPr id="101" name="Graphic 100" descr="Badge 1 with solid fill">
            <a:extLst>
              <a:ext uri="{FF2B5EF4-FFF2-40B4-BE49-F238E27FC236}">
                <a16:creationId xmlns:a16="http://schemas.microsoft.com/office/drawing/2014/main" id="{3FDEE732-295B-97EB-731C-EC28E9BEE37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7984228" y="11891073"/>
            <a:ext cx="598004" cy="59800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9B0B7DF-3BE2-3747-F7C6-C3141A50176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91246" y="10296857"/>
            <a:ext cx="2783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itchFamily="2" charset="77"/>
              </a:rPr>
              <a:t>Set-Cookie: id=1x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DC369EF-4F5C-1C52-813F-23A022455D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782620" y="10826188"/>
            <a:ext cx="300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+ stored </a:t>
            </a:r>
            <a:r>
              <a:rPr lang="en-US" sz="2400" dirty="0">
                <a:latin typeface="Montserrat" pitchFamily="2" charset="77"/>
              </a:rPr>
              <a:t>Server-side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E48FB473-BF69-1684-CA2A-3019C17AC988}"/>
              </a:ext>
            </a:extLst>
          </p:cNvPr>
          <p:cNvCxnSpPr>
            <a:cxnSpLocks/>
          </p:cNvCxnSpPr>
          <p:nvPr/>
        </p:nvCxnSpPr>
        <p:spPr>
          <a:xfrm>
            <a:off x="13498917" y="9508520"/>
            <a:ext cx="0" cy="304944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urved Connector 94">
            <a:extLst>
              <a:ext uri="{FF2B5EF4-FFF2-40B4-BE49-F238E27FC236}">
                <a16:creationId xmlns:a16="http://schemas.microsoft.com/office/drawing/2014/main" id="{F54852D9-EEAA-895E-82DD-D21396E245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9319440" y="11184419"/>
            <a:ext cx="3098573" cy="0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Graphic 105" descr="Line arrow: Rotate right outline">
            <a:extLst>
              <a:ext uri="{FF2B5EF4-FFF2-40B4-BE49-F238E27FC236}">
                <a16:creationId xmlns:a16="http://schemas.microsoft.com/office/drawing/2014/main" id="{A3C5D0F4-71B1-A1AF-7A51-CDACC47FC9D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10800000">
            <a:off x="17908930" y="9513656"/>
            <a:ext cx="748599" cy="748599"/>
          </a:xfrm>
          <a:prstGeom prst="rect">
            <a:avLst/>
          </a:prstGeom>
        </p:spPr>
      </p:pic>
      <p:cxnSp>
        <p:nvCxnSpPr>
          <p:cNvPr id="107" name="Curved Connector 116">
            <a:extLst>
              <a:ext uri="{FF2B5EF4-FFF2-40B4-BE49-F238E27FC236}">
                <a16:creationId xmlns:a16="http://schemas.microsoft.com/office/drawing/2014/main" id="{4E60DF8C-F44F-3C4F-0D35-0AD2EE06425B}"/>
              </a:ext>
            </a:extLst>
          </p:cNvPr>
          <p:cNvCxnSpPr>
            <a:cxnSpLocks noGrp="1" noRot="1" noMove="1" noResize="1" noEditPoints="1" noAdjustHandles="1" noChangeArrowheads="1" noChangeShapeType="1"/>
            <a:stCxn id="86" idx="3"/>
          </p:cNvCxnSpPr>
          <p:nvPr/>
        </p:nvCxnSpPr>
        <p:spPr>
          <a:xfrm flipV="1">
            <a:off x="9405961" y="9604551"/>
            <a:ext cx="3335465" cy="2340032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Graphic 107">
            <a:extLst>
              <a:ext uri="{FF2B5EF4-FFF2-40B4-BE49-F238E27FC236}">
                <a16:creationId xmlns:a16="http://schemas.microsoft.com/office/drawing/2014/main" id="{8ED5F176-D795-5D24-CACA-D87EF9C06E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534227" y="10233167"/>
            <a:ext cx="589044" cy="589044"/>
          </a:xfrm>
          <a:prstGeom prst="rect">
            <a:avLst/>
          </a:prstGeom>
        </p:spPr>
      </p:pic>
      <p:cxnSp>
        <p:nvCxnSpPr>
          <p:cNvPr id="109" name="Curved Connector 108">
            <a:extLst>
              <a:ext uri="{FF2B5EF4-FFF2-40B4-BE49-F238E27FC236}">
                <a16:creationId xmlns:a16="http://schemas.microsoft.com/office/drawing/2014/main" id="{06679ADC-5A84-B3A8-A4E1-8EE66F1F7C9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0800000">
            <a:off x="15068007" y="9653334"/>
            <a:ext cx="2135121" cy="12700"/>
          </a:xfrm>
          <a:prstGeom prst="curvedConnector3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Graphic 109" descr="Badge with solid fill">
            <a:extLst>
              <a:ext uri="{FF2B5EF4-FFF2-40B4-BE49-F238E27FC236}">
                <a16:creationId xmlns:a16="http://schemas.microsoft.com/office/drawing/2014/main" id="{CAEC4DF8-DA71-6313-CDF3-0A1DB2258D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8583007" y="11891073"/>
            <a:ext cx="598004" cy="598004"/>
          </a:xfrm>
          <a:prstGeom prst="rect">
            <a:avLst/>
          </a:prstGeom>
        </p:spPr>
      </p:pic>
      <p:cxnSp>
        <p:nvCxnSpPr>
          <p:cNvPr id="111" name="Curved Connector 55">
            <a:extLst>
              <a:ext uri="{FF2B5EF4-FFF2-40B4-BE49-F238E27FC236}">
                <a16:creationId xmlns:a16="http://schemas.microsoft.com/office/drawing/2014/main" id="{E81FA3B2-5DDA-0759-B640-4BC006E9F01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5080044" y="9510866"/>
            <a:ext cx="2135121" cy="1"/>
          </a:xfrm>
          <a:prstGeom prst="bentConnector3">
            <a:avLst>
              <a:gd name="adj1" fmla="val 48917"/>
            </a:avLst>
          </a:prstGeom>
          <a:ln w="38100"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BFAE67E-895C-BFB0-C3F9-B6F52F25182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173017" y="9123213"/>
            <a:ext cx="18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Request</a:t>
            </a:r>
            <a:endParaRPr lang="en-US" sz="2400" i="1" dirty="0">
              <a:latin typeface="Montserrat" pitchFamily="2" charset="77"/>
            </a:endParaRPr>
          </a:p>
        </p:txBody>
      </p:sp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E0A6D038-EA99-DDF9-04EC-3E32ED3DF77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0800000">
            <a:off x="15062116" y="10026900"/>
            <a:ext cx="2135121" cy="12700"/>
          </a:xfrm>
          <a:prstGeom prst="curvedConnector3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E92F51DE-6293-D812-CB8E-99169F3DCC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236196" y="9659684"/>
            <a:ext cx="189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Response</a:t>
            </a:r>
            <a:endParaRPr lang="en-US" sz="2400" i="1" dirty="0">
              <a:latin typeface="Montserrat" pitchFamily="2" charset="77"/>
            </a:endParaRPr>
          </a:p>
        </p:txBody>
      </p:sp>
      <p:cxnSp>
        <p:nvCxnSpPr>
          <p:cNvPr id="115" name="Curved Connector 94">
            <a:extLst>
              <a:ext uri="{FF2B5EF4-FFF2-40B4-BE49-F238E27FC236}">
                <a16:creationId xmlns:a16="http://schemas.microsoft.com/office/drawing/2014/main" id="{CDBDE1A6-69D8-8BC8-5525-C8223F8A30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9319439" y="12123735"/>
            <a:ext cx="3098573" cy="0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7A1219CE-6DFD-E9DE-CD76-3C14ACD34B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291432" y="9220155"/>
            <a:ext cx="1022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Intent</a:t>
            </a:r>
            <a:endParaRPr lang="en-US" sz="2400" i="1" dirty="0">
              <a:latin typeface="Montserrat" pitchFamily="2" charset="7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2DBC541-8412-24F0-F2E2-3B534E562E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075241" y="11298414"/>
            <a:ext cx="1374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rendered in App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AA714A1-8649-0D17-1CBE-391150E0AED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964213" y="11616135"/>
            <a:ext cx="2013984" cy="1031140"/>
            <a:chOff x="14952942" y="11480874"/>
            <a:chExt cx="2013984" cy="1031140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7F1707E-C84C-157B-64D8-8B2DB56089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952942" y="11480874"/>
              <a:ext cx="193048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latin typeface="Montserrat" pitchFamily="2" charset="77"/>
                </a:rPr>
                <a:t>Note: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i="1" dirty="0">
                  <a:solidFill>
                    <a:schemeClr val="accent4"/>
                  </a:solidFill>
                  <a:latin typeface="Montserrat" pitchFamily="2" charset="77"/>
                </a:rPr>
                <a:t>Stores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i="1" dirty="0">
                  <a:solidFill>
                    <a:schemeClr val="accent1"/>
                  </a:solidFill>
                  <a:latin typeface="Montserrat" pitchFamily="2" charset="77"/>
                </a:rPr>
                <a:t>Includes</a:t>
              </a:r>
              <a:r>
                <a:rPr lang="en-US" sz="2000" dirty="0">
                  <a:latin typeface="Montserrat" pitchFamily="2" charset="77"/>
                </a:rPr>
                <a:t> </a:t>
              </a:r>
            </a:p>
          </p:txBody>
        </p:sp>
        <p:pic>
          <p:nvPicPr>
            <p:cNvPr id="120" name="Graphic 119">
              <a:extLst>
                <a:ext uri="{FF2B5EF4-FFF2-40B4-BE49-F238E27FC236}">
                  <a16:creationId xmlns:a16="http://schemas.microsoft.com/office/drawing/2014/main" id="{9B3185A5-67C3-53BE-4A5C-E14B353C11C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225864" y="11737213"/>
              <a:ext cx="459169" cy="459169"/>
            </a:xfrm>
            <a:prstGeom prst="rect">
              <a:avLst/>
            </a:prstGeom>
          </p:spPr>
        </p:pic>
        <p:pic>
          <p:nvPicPr>
            <p:cNvPr id="121" name="Graphic 120">
              <a:extLst>
                <a:ext uri="{FF2B5EF4-FFF2-40B4-BE49-F238E27FC236}">
                  <a16:creationId xmlns:a16="http://schemas.microsoft.com/office/drawing/2014/main" id="{3417EE1C-B0C7-61F2-AC80-EBAF0A651A3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6507757" y="12052845"/>
              <a:ext cx="459169" cy="459169"/>
            </a:xfrm>
            <a:prstGeom prst="rect">
              <a:avLst/>
            </a:prstGeom>
          </p:spPr>
        </p:pic>
      </p:grpSp>
      <p:pic>
        <p:nvPicPr>
          <p:cNvPr id="193" name="Graphic 192" descr="Server with solid fill">
            <a:extLst>
              <a:ext uri="{FF2B5EF4-FFF2-40B4-BE49-F238E27FC236}">
                <a16:creationId xmlns:a16="http://schemas.microsoft.com/office/drawing/2014/main" id="{A270B035-0E69-DE00-A46B-B74B77171D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2783979" y="23245737"/>
            <a:ext cx="871768" cy="871768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DBF722A6-9CE5-5ACB-2F30-18492D651581}"/>
              </a:ext>
            </a:extLst>
          </p:cNvPr>
          <p:cNvSpPr txBox="1">
            <a:spLocks/>
          </p:cNvSpPr>
          <p:nvPr/>
        </p:nvSpPr>
        <p:spPr>
          <a:xfrm>
            <a:off x="6610885" y="23394341"/>
            <a:ext cx="15356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Browser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6A939B2-5258-4B4E-BA64-6F4A57875B5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597038" y="23394341"/>
            <a:ext cx="2122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Web Server</a:t>
            </a:r>
          </a:p>
        </p:txBody>
      </p:sp>
      <p:pic>
        <p:nvPicPr>
          <p:cNvPr id="196" name="Graphic 224">
            <a:extLst>
              <a:ext uri="{FF2B5EF4-FFF2-40B4-BE49-F238E27FC236}">
                <a16:creationId xmlns:a16="http://schemas.microsoft.com/office/drawing/2014/main" id="{E2696EB2-A10E-2383-4437-9C0FA9FA7CCA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8198132" y="23230016"/>
            <a:ext cx="691578" cy="827182"/>
          </a:xfrm>
          <a:prstGeom prst="rect">
            <a:avLst/>
          </a:prstGeom>
          <a:ln>
            <a:noFill/>
          </a:ln>
        </p:spPr>
      </p:pic>
      <p:cxnSp>
        <p:nvCxnSpPr>
          <p:cNvPr id="197" name="Curved Connector 55">
            <a:extLst>
              <a:ext uri="{FF2B5EF4-FFF2-40B4-BE49-F238E27FC236}">
                <a16:creationId xmlns:a16="http://schemas.microsoft.com/office/drawing/2014/main" id="{58FE7D8A-09AC-282D-8E1F-73422476F0F3}"/>
              </a:ext>
            </a:extLst>
          </p:cNvPr>
          <p:cNvCxnSpPr>
            <a:cxnSpLocks/>
          </p:cNvCxnSpPr>
          <p:nvPr/>
        </p:nvCxnSpPr>
        <p:spPr>
          <a:xfrm flipV="1">
            <a:off x="9048401" y="25224844"/>
            <a:ext cx="1753250" cy="3447"/>
          </a:xfrm>
          <a:prstGeom prst="straightConnector1">
            <a:avLst/>
          </a:prstGeom>
          <a:ln w="38100">
            <a:solidFill>
              <a:schemeClr val="tx1"/>
            </a:solidFill>
            <a:miter lim="800000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8" name="Graphic 197" descr="Line arrow: Rotate right outline">
            <a:extLst>
              <a:ext uri="{FF2B5EF4-FFF2-40B4-BE49-F238E27FC236}">
                <a16:creationId xmlns:a16="http://schemas.microsoft.com/office/drawing/2014/main" id="{6167E1F5-BBAC-6EEA-92AA-3558BE97544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7021438">
            <a:off x="8784933" y="23389134"/>
            <a:ext cx="584973" cy="584973"/>
          </a:xfrm>
          <a:prstGeom prst="rect">
            <a:avLst/>
          </a:prstGeom>
        </p:spPr>
      </p:pic>
      <p:cxnSp>
        <p:nvCxnSpPr>
          <p:cNvPr id="199" name="Curved Connector 246">
            <a:extLst>
              <a:ext uri="{FF2B5EF4-FFF2-40B4-BE49-F238E27FC236}">
                <a16:creationId xmlns:a16="http://schemas.microsoft.com/office/drawing/2014/main" id="{26C15C9C-1660-D04B-044A-62F8EB41D292}"/>
              </a:ext>
            </a:extLst>
          </p:cNvPr>
          <p:cNvCxnSpPr>
            <a:cxnSpLocks/>
          </p:cNvCxnSpPr>
          <p:nvPr/>
        </p:nvCxnSpPr>
        <p:spPr>
          <a:xfrm flipH="1" flipV="1">
            <a:off x="9038200" y="25834888"/>
            <a:ext cx="1789633" cy="18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aphic 296" descr="Database with solid fill">
            <a:extLst>
              <a:ext uri="{FF2B5EF4-FFF2-40B4-BE49-F238E27FC236}">
                <a16:creationId xmlns:a16="http://schemas.microsoft.com/office/drawing/2014/main" id="{3AE52864-D265-F699-40EC-D1AEC957BC8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39945" y="27116354"/>
            <a:ext cx="533400" cy="723900"/>
            <a:chOff x="1275251" y="25060438"/>
            <a:chExt cx="533400" cy="723900"/>
          </a:xfrm>
          <a:solidFill>
            <a:schemeClr val="tx1"/>
          </a:solidFill>
        </p:grpSpPr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5D3EE80B-AEFF-A9B6-CF6B-C993A386DA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75251" y="25060438"/>
              <a:ext cx="533400" cy="152400"/>
            </a:xfrm>
            <a:custGeom>
              <a:avLst/>
              <a:gdLst>
                <a:gd name="connsiteX0" fmla="*/ 533400 w 533400"/>
                <a:gd name="connsiteY0" fmla="*/ 76200 h 152400"/>
                <a:gd name="connsiteX1" fmla="*/ 266700 w 533400"/>
                <a:gd name="connsiteY1" fmla="*/ 152400 h 152400"/>
                <a:gd name="connsiteX2" fmla="*/ 0 w 533400"/>
                <a:gd name="connsiteY2" fmla="*/ 76200 h 152400"/>
                <a:gd name="connsiteX3" fmla="*/ 266700 w 533400"/>
                <a:gd name="connsiteY3" fmla="*/ 0 h 152400"/>
                <a:gd name="connsiteX4" fmla="*/ 533400 w 533400"/>
                <a:gd name="connsiteY4" fmla="*/ 762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3400" h="152400">
                  <a:moveTo>
                    <a:pt x="533400" y="76200"/>
                  </a:moveTo>
                  <a:cubicBezTo>
                    <a:pt x="533400" y="118284"/>
                    <a:pt x="413994" y="152400"/>
                    <a:pt x="266700" y="152400"/>
                  </a:cubicBezTo>
                  <a:cubicBezTo>
                    <a:pt x="119406" y="152400"/>
                    <a:pt x="0" y="118284"/>
                    <a:pt x="0" y="76200"/>
                  </a:cubicBezTo>
                  <a:cubicBezTo>
                    <a:pt x="0" y="34116"/>
                    <a:pt x="119406" y="0"/>
                    <a:pt x="266700" y="0"/>
                  </a:cubicBezTo>
                  <a:cubicBezTo>
                    <a:pt x="413994" y="0"/>
                    <a:pt x="533400" y="34116"/>
                    <a:pt x="5334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02063564-9B4B-B7A3-CBA4-C1205AE196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75251" y="2517473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A2F9E1F7-7063-1986-274A-3677D39E68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75251" y="2536523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1AB7C033-0A6D-188C-7AA8-2F7C47C9AC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75251" y="25555738"/>
              <a:ext cx="533400" cy="228600"/>
            </a:xfrm>
            <a:custGeom>
              <a:avLst/>
              <a:gdLst>
                <a:gd name="connsiteX0" fmla="*/ 457200 w 533400"/>
                <a:gd name="connsiteY0" fmla="*/ 152400 h 228600"/>
                <a:gd name="connsiteX1" fmla="*/ 438150 w 533400"/>
                <a:gd name="connsiteY1" fmla="*/ 133350 h 228600"/>
                <a:gd name="connsiteX2" fmla="*/ 457200 w 533400"/>
                <a:gd name="connsiteY2" fmla="*/ 114300 h 228600"/>
                <a:gd name="connsiteX3" fmla="*/ 476250 w 533400"/>
                <a:gd name="connsiteY3" fmla="*/ 133350 h 228600"/>
                <a:gd name="connsiteX4" fmla="*/ 457200 w 533400"/>
                <a:gd name="connsiteY4" fmla="*/ 152400 h 228600"/>
                <a:gd name="connsiteX5" fmla="*/ 266700 w 533400"/>
                <a:gd name="connsiteY5" fmla="*/ 76200 h 228600"/>
                <a:gd name="connsiteX6" fmla="*/ 0 w 533400"/>
                <a:gd name="connsiteY6" fmla="*/ 0 h 228600"/>
                <a:gd name="connsiteX7" fmla="*/ 0 w 533400"/>
                <a:gd name="connsiteY7" fmla="*/ 152400 h 228600"/>
                <a:gd name="connsiteX8" fmla="*/ 266700 w 533400"/>
                <a:gd name="connsiteY8" fmla="*/ 228600 h 228600"/>
                <a:gd name="connsiteX9" fmla="*/ 533400 w 533400"/>
                <a:gd name="connsiteY9" fmla="*/ 152400 h 228600"/>
                <a:gd name="connsiteX10" fmla="*/ 533400 w 533400"/>
                <a:gd name="connsiteY10" fmla="*/ 0 h 228600"/>
                <a:gd name="connsiteX11" fmla="*/ 266700 w 533400"/>
                <a:gd name="connsiteY11" fmla="*/ 762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0" h="228600">
                  <a:moveTo>
                    <a:pt x="457200" y="152400"/>
                  </a:moveTo>
                  <a:cubicBezTo>
                    <a:pt x="445770" y="152400"/>
                    <a:pt x="438150" y="144780"/>
                    <a:pt x="438150" y="133350"/>
                  </a:cubicBezTo>
                  <a:cubicBezTo>
                    <a:pt x="438150" y="121920"/>
                    <a:pt x="445770" y="114300"/>
                    <a:pt x="457200" y="114300"/>
                  </a:cubicBezTo>
                  <a:cubicBezTo>
                    <a:pt x="468630" y="114300"/>
                    <a:pt x="476250" y="121920"/>
                    <a:pt x="476250" y="133350"/>
                  </a:cubicBezTo>
                  <a:cubicBezTo>
                    <a:pt x="476250" y="144780"/>
                    <a:pt x="468630" y="152400"/>
                    <a:pt x="457200" y="152400"/>
                  </a:cubicBezTo>
                  <a:close/>
                  <a:moveTo>
                    <a:pt x="266700" y="76200"/>
                  </a:moveTo>
                  <a:cubicBezTo>
                    <a:pt x="120015" y="76200"/>
                    <a:pt x="0" y="41910"/>
                    <a:pt x="0" y="0"/>
                  </a:cubicBezTo>
                  <a:lnTo>
                    <a:pt x="0" y="152400"/>
                  </a:lnTo>
                  <a:cubicBezTo>
                    <a:pt x="0" y="194310"/>
                    <a:pt x="120015" y="228600"/>
                    <a:pt x="266700" y="228600"/>
                  </a:cubicBezTo>
                  <a:cubicBezTo>
                    <a:pt x="413385" y="228600"/>
                    <a:pt x="533400" y="194310"/>
                    <a:pt x="533400" y="152400"/>
                  </a:cubicBezTo>
                  <a:lnTo>
                    <a:pt x="533400" y="0"/>
                  </a:lnTo>
                  <a:cubicBezTo>
                    <a:pt x="533400" y="41910"/>
                    <a:pt x="413385" y="76200"/>
                    <a:pt x="266700" y="762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386F0FDA-221F-35AE-D197-40B023F4CB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3573" y="23394341"/>
            <a:ext cx="1613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itchFamily="2" charset="77"/>
              </a:rPr>
              <a:t>Installer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CB5412D-4075-AE3A-74F6-ABB7B24DD7C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735300" y="23649659"/>
            <a:ext cx="2563597" cy="201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" name="Graphic 206" descr="Document with solid fill">
            <a:extLst>
              <a:ext uri="{FF2B5EF4-FFF2-40B4-BE49-F238E27FC236}">
                <a16:creationId xmlns:a16="http://schemas.microsoft.com/office/drawing/2014/main" id="{23D9CF71-FB2E-71E2-E2EA-EEBAF202E1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4375565" y="23198057"/>
            <a:ext cx="461666" cy="461666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DA168F30-F4BE-6290-27C8-C412AF0EC2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91477" y="23244893"/>
            <a:ext cx="1221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Policy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5C7B49F-0302-67C8-AAEC-5E144A26C07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83573" y="24182599"/>
            <a:ext cx="1613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ontserrat" pitchFamily="2" charset="77"/>
              </a:rPr>
              <a:t>App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B8E41FC6-A8D1-80AD-2237-4913ED2C8F3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769280" y="24521914"/>
            <a:ext cx="2437624" cy="12761"/>
          </a:xfrm>
          <a:prstGeom prst="straightConnector1">
            <a:avLst/>
          </a:prstGeom>
          <a:ln w="3810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9331DB90-165A-6164-60D5-AD94667CCDF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769280" y="25225111"/>
            <a:ext cx="2563597" cy="91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0DF35162-757A-9B77-1258-A26C0A7C3D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24073" y="24763150"/>
            <a:ext cx="1225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Intent +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5927A22-91AF-A479-6261-ABC81917EBB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29611" y="23995215"/>
            <a:ext cx="2141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Create Caps</a:t>
            </a:r>
            <a:br>
              <a:rPr lang="en-US" sz="2000" i="1" dirty="0">
                <a:latin typeface="Montserrat" pitchFamily="2" charset="77"/>
              </a:rPr>
            </a:br>
            <a:r>
              <a:rPr lang="en-US" sz="2000" i="1" dirty="0">
                <a:latin typeface="Montserrat" pitchFamily="2" charset="77"/>
              </a:rPr>
              <a:t>&amp; return 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37A5519-A06C-A882-77FD-036305ACB6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30493" y="25007079"/>
            <a:ext cx="24734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Validate</a:t>
            </a:r>
            <a:br>
              <a:rPr lang="en-US" sz="2000" i="1" dirty="0">
                <a:latin typeface="Montserrat" pitchFamily="2" charset="77"/>
              </a:rPr>
            </a:br>
            <a:r>
              <a:rPr lang="en-US" sz="2000" i="1" dirty="0">
                <a:latin typeface="Montserrat" pitchFamily="2" charset="77"/>
              </a:rPr>
              <a:t>(</a:t>
            </a:r>
            <a:r>
              <a:rPr lang="en-US" sz="2000" i="1" dirty="0">
                <a:solidFill>
                  <a:schemeClr val="accent4"/>
                </a:solidFill>
                <a:latin typeface="Montserrat" pitchFamily="2" charset="77"/>
              </a:rPr>
              <a:t>sign.</a:t>
            </a:r>
            <a:r>
              <a:rPr lang="en-US" sz="2000" i="1" dirty="0">
                <a:latin typeface="Montserrat" pitchFamily="2" charset="77"/>
              </a:rPr>
              <a:t>, origin, …)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195D89A-7C94-240B-15C6-F4EABEA2AA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960020" y="24909305"/>
            <a:ext cx="19337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Montserrat" pitchFamily="2" charset="77"/>
              </a:rPr>
              <a:t>Set-Cookie: id=1x</a:t>
            </a:r>
          </a:p>
        </p:txBody>
      </p:sp>
      <p:pic>
        <p:nvPicPr>
          <p:cNvPr id="216" name="Graphic 411">
            <a:extLst>
              <a:ext uri="{FF2B5EF4-FFF2-40B4-BE49-F238E27FC236}">
                <a16:creationId xmlns:a16="http://schemas.microsoft.com/office/drawing/2014/main" id="{0B4706E8-8EFE-E1EF-14B7-169FED4957F0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7608752" y="23927991"/>
            <a:ext cx="547886" cy="547886"/>
          </a:xfrm>
          <a:prstGeom prst="rect">
            <a:avLst/>
          </a:prstGeom>
        </p:spPr>
      </p:pic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61C412E8-C1B2-D6E4-D87E-4F886E7A418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769280" y="27439911"/>
            <a:ext cx="2437624" cy="0"/>
          </a:xfrm>
          <a:prstGeom prst="straightConnector1">
            <a:avLst/>
          </a:prstGeom>
          <a:ln w="38100">
            <a:solidFill>
              <a:schemeClr val="accent2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43931A7C-FF69-B8F3-2623-7B128A63FC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30835" y="25668445"/>
            <a:ext cx="3038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Search matching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F027E7A-C9D8-E81C-8DCA-9EE1FFC80AE3}"/>
              </a:ext>
            </a:extLst>
          </p:cNvPr>
          <p:cNvSpPr txBox="1">
            <a:spLocks/>
          </p:cNvSpPr>
          <p:nvPr/>
        </p:nvSpPr>
        <p:spPr>
          <a:xfrm>
            <a:off x="9031766" y="24822624"/>
            <a:ext cx="173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Request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27949AC-32B6-9707-1B04-50CCDEE4A7D2}"/>
              </a:ext>
            </a:extLst>
          </p:cNvPr>
          <p:cNvSpPr txBox="1">
            <a:spLocks/>
          </p:cNvSpPr>
          <p:nvPr/>
        </p:nvSpPr>
        <p:spPr>
          <a:xfrm>
            <a:off x="9031766" y="25457394"/>
            <a:ext cx="173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latin typeface="Montserrat" pitchFamily="2" charset="77"/>
              </a:rPr>
              <a:t>Response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4B18C21-7809-1399-45A0-B884418E8FC1}"/>
              </a:ext>
            </a:extLst>
          </p:cNvPr>
          <p:cNvSpPr txBox="1">
            <a:spLocks/>
          </p:cNvSpPr>
          <p:nvPr/>
        </p:nvSpPr>
        <p:spPr>
          <a:xfrm>
            <a:off x="5532663" y="26482700"/>
            <a:ext cx="5238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If </a:t>
            </a:r>
            <a:r>
              <a:rPr lang="en-US" sz="2000" i="1" u="sng" dirty="0">
                <a:latin typeface="Montserrat" pitchFamily="2" charset="77"/>
              </a:rPr>
              <a:t>wildcard</a:t>
            </a:r>
            <a:r>
              <a:rPr lang="en-US" sz="2000" i="1" dirty="0">
                <a:latin typeface="Montserrat" pitchFamily="2" charset="77"/>
              </a:rPr>
              <a:t>: copy; set name &amp; value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417EDD2-C6D2-8440-0852-7103F50D52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28317" y="26887582"/>
            <a:ext cx="4806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If </a:t>
            </a:r>
            <a:r>
              <a:rPr lang="en-US" sz="2000" i="1" u="sng" dirty="0">
                <a:latin typeface="Montserrat" pitchFamily="2" charset="77"/>
              </a:rPr>
              <a:t>predefined</a:t>
            </a:r>
            <a:r>
              <a:rPr lang="en-US" sz="2000" i="1" dirty="0">
                <a:latin typeface="Montserrat" pitchFamily="2" charset="77"/>
              </a:rPr>
              <a:t>: only set value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B0A5376-8822-B637-1748-9F68E69426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27585" y="27284844"/>
            <a:ext cx="5535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Global_jar? Store in </a:t>
            </a:r>
            <a:r>
              <a:rPr lang="en-US" sz="2000" i="1" dirty="0">
                <a:solidFill>
                  <a:schemeClr val="accent5"/>
                </a:solidFill>
                <a:latin typeface="Montserrat" pitchFamily="2" charset="77"/>
              </a:rPr>
              <a:t>shared jar</a:t>
            </a:r>
            <a:r>
              <a:rPr lang="en-US" sz="2000" i="1" dirty="0">
                <a:latin typeface="Montserrat" pitchFamily="2" charset="77"/>
              </a:rPr>
              <a:t> or </a:t>
            </a:r>
            <a:r>
              <a:rPr lang="en-US" sz="2000" i="1" dirty="0">
                <a:solidFill>
                  <a:schemeClr val="accent2"/>
                </a:solidFill>
                <a:latin typeface="Montserrat" pitchFamily="2" charset="77"/>
              </a:rPr>
              <a:t>local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CCCE058-60A0-465D-9F80-87D855196A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532663" y="26073242"/>
            <a:ext cx="4801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Montserrat" pitchFamily="2" charset="77"/>
              </a:rPr>
              <a:t>If </a:t>
            </a:r>
            <a:r>
              <a:rPr lang="en-US" sz="2000" i="1" u="sng" dirty="0">
                <a:latin typeface="Montserrat" pitchFamily="2" charset="77"/>
              </a:rPr>
              <a:t>nonexistent</a:t>
            </a:r>
            <a:r>
              <a:rPr lang="en-US" sz="2000" i="1" dirty="0">
                <a:latin typeface="Montserrat" pitchFamily="2" charset="77"/>
              </a:rPr>
              <a:t>: fresh state</a:t>
            </a:r>
          </a:p>
        </p:txBody>
      </p: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9080909-4D31-7F1C-3EB0-12686AFB5C2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802590" y="23849887"/>
            <a:ext cx="0" cy="345897"/>
          </a:xfrm>
          <a:prstGeom prst="straightConnector1">
            <a:avLst/>
          </a:prstGeom>
          <a:ln w="381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6CEE9F75-BE2E-68A7-8957-3458E0FA03B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784421" y="24720516"/>
            <a:ext cx="18169" cy="2295968"/>
          </a:xfrm>
          <a:prstGeom prst="straightConnector1">
            <a:avLst/>
          </a:prstGeom>
          <a:ln w="381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8" name="Graphic 227" descr="Key with solid fill">
            <a:extLst>
              <a:ext uri="{FF2B5EF4-FFF2-40B4-BE49-F238E27FC236}">
                <a16:creationId xmlns:a16="http://schemas.microsoft.com/office/drawing/2014/main" id="{78F85792-7C33-AAE6-EC5B-D4B27E25EA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44941" y="23244386"/>
            <a:ext cx="759131" cy="759131"/>
          </a:xfrm>
          <a:prstGeom prst="rect">
            <a:avLst/>
          </a:prstGeom>
        </p:spPr>
      </p:pic>
      <p:pic>
        <p:nvPicPr>
          <p:cNvPr id="229" name="Graphic 477">
            <a:extLst>
              <a:ext uri="{FF2B5EF4-FFF2-40B4-BE49-F238E27FC236}">
                <a16:creationId xmlns:a16="http://schemas.microsoft.com/office/drawing/2014/main" id="{0ACB21DD-9FAE-513B-8A1D-3BEE1F990D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rcRect/>
          <a:stretch/>
        </p:blipFill>
        <p:spPr>
          <a:xfrm>
            <a:off x="8266526" y="25548280"/>
            <a:ext cx="547886" cy="547886"/>
          </a:xfrm>
          <a:prstGeom prst="rect">
            <a:avLst/>
          </a:prstGeom>
        </p:spPr>
      </p:pic>
      <p:pic>
        <p:nvPicPr>
          <p:cNvPr id="230" name="Graphic 478">
            <a:extLst>
              <a:ext uri="{FF2B5EF4-FFF2-40B4-BE49-F238E27FC236}">
                <a16:creationId xmlns:a16="http://schemas.microsoft.com/office/drawing/2014/main" id="{14D00D03-0DF0-8FA1-CD9B-9A55DCB285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rcRect/>
          <a:stretch/>
        </p:blipFill>
        <p:spPr>
          <a:xfrm>
            <a:off x="7141467" y="24917886"/>
            <a:ext cx="547886" cy="547886"/>
          </a:xfrm>
          <a:prstGeom prst="rect">
            <a:avLst/>
          </a:prstGeom>
        </p:spPr>
      </p:pic>
      <p:pic>
        <p:nvPicPr>
          <p:cNvPr id="231" name="Graphic 479">
            <a:extLst>
              <a:ext uri="{FF2B5EF4-FFF2-40B4-BE49-F238E27FC236}">
                <a16:creationId xmlns:a16="http://schemas.microsoft.com/office/drawing/2014/main" id="{CB6DFBF3-EFDA-9F20-A2BC-FD55BABC24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rcRect/>
          <a:stretch/>
        </p:blipFill>
        <p:spPr>
          <a:xfrm>
            <a:off x="3777135" y="26882203"/>
            <a:ext cx="547886" cy="547886"/>
          </a:xfrm>
          <a:prstGeom prst="rect">
            <a:avLst/>
          </a:prstGeom>
        </p:spPr>
      </p:pic>
      <p:pic>
        <p:nvPicPr>
          <p:cNvPr id="232" name="Graphic 480">
            <a:extLst>
              <a:ext uri="{FF2B5EF4-FFF2-40B4-BE49-F238E27FC236}">
                <a16:creationId xmlns:a16="http://schemas.microsoft.com/office/drawing/2014/main" id="{FDFB0B91-58EB-7F60-787E-80784EAB5B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rcRect/>
          <a:stretch/>
        </p:blipFill>
        <p:spPr>
          <a:xfrm>
            <a:off x="4418018" y="24674719"/>
            <a:ext cx="547886" cy="547886"/>
          </a:xfrm>
          <a:prstGeom prst="rect">
            <a:avLst/>
          </a:prstGeom>
        </p:spPr>
      </p:pic>
      <p:pic>
        <p:nvPicPr>
          <p:cNvPr id="233" name="Graphic 481">
            <a:extLst>
              <a:ext uri="{FF2B5EF4-FFF2-40B4-BE49-F238E27FC236}">
                <a16:creationId xmlns:a16="http://schemas.microsoft.com/office/drawing/2014/main" id="{341F0980-423A-F23C-C301-E5AEC31027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8"/>
          <a:srcRect/>
          <a:stretch/>
        </p:blipFill>
        <p:spPr>
          <a:xfrm>
            <a:off x="1124742" y="25548280"/>
            <a:ext cx="547886" cy="547886"/>
          </a:xfrm>
          <a:prstGeom prst="rect">
            <a:avLst/>
          </a:prstGeom>
        </p:spPr>
      </p:pic>
      <p:sp>
        <p:nvSpPr>
          <p:cNvPr id="234" name="TextBox 233">
            <a:extLst>
              <a:ext uri="{FF2B5EF4-FFF2-40B4-BE49-F238E27FC236}">
                <a16:creationId xmlns:a16="http://schemas.microsoft.com/office/drawing/2014/main" id="{A318EA72-42A1-0564-0EF5-C226C638562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81823" y="26585741"/>
            <a:ext cx="28381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Montserrat" pitchFamily="2" charset="77"/>
              </a:rPr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Montserrat" pitchFamily="2" charset="77"/>
              </a:rPr>
              <a:t>‘Requests’ now include shared &amp; local cookies</a:t>
            </a:r>
            <a:endParaRPr lang="en-US" sz="2400" dirty="0">
              <a:solidFill>
                <a:schemeClr val="tx1">
                  <a:lumMod val="60000"/>
                  <a:lumOff val="40000"/>
                </a:schemeClr>
              </a:solidFill>
              <a:latin typeface="Montserrat" pitchFamily="2" charset="77"/>
            </a:endParaRPr>
          </a:p>
        </p:txBody>
      </p:sp>
      <p:pic>
        <p:nvPicPr>
          <p:cNvPr id="235" name="Graphic 523">
            <a:extLst>
              <a:ext uri="{FF2B5EF4-FFF2-40B4-BE49-F238E27FC236}">
                <a16:creationId xmlns:a16="http://schemas.microsoft.com/office/drawing/2014/main" id="{32E37FF6-1370-9677-9F8B-B6335599E543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3791496" y="23965043"/>
            <a:ext cx="547886" cy="54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9231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Blue">
  <a:themeElements>
    <a:clrScheme name="CISPA_Colours_Print">
      <a:dk1>
        <a:srgbClr val="343433"/>
      </a:dk1>
      <a:lt1>
        <a:srgbClr val="FFFEFE"/>
      </a:lt1>
      <a:dk2>
        <a:srgbClr val="56BECC"/>
      </a:dk2>
      <a:lt2>
        <a:srgbClr val="C7E6E9"/>
      </a:lt2>
      <a:accent1>
        <a:srgbClr val="0B234E"/>
      </a:accent1>
      <a:accent2>
        <a:srgbClr val="1585BB"/>
      </a:accent2>
      <a:accent3>
        <a:srgbClr val="DD492A"/>
      </a:accent3>
      <a:accent4>
        <a:srgbClr val="008347"/>
      </a:accent4>
      <a:accent5>
        <a:srgbClr val="FBCF1F"/>
      </a:accent5>
      <a:accent6>
        <a:srgbClr val="E67B47"/>
      </a:accent6>
      <a:hlink>
        <a:srgbClr val="00AFDE"/>
      </a:hlink>
      <a:folHlink>
        <a:srgbClr val="CACBCA"/>
      </a:folHlink>
    </a:clrScheme>
    <a:fontScheme name="Office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6807</TotalTime>
  <Words>524</Words>
  <Application>Microsoft Macintosh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Lucida Sans</vt:lpstr>
      <vt:lpstr>Montserrat</vt:lpstr>
      <vt:lpstr>Montserrat Black</vt:lpstr>
      <vt:lpstr>Montserrat ExtraBold</vt:lpstr>
      <vt:lpstr>Montserrat Light</vt:lpstr>
      <vt:lpstr>Montserrat SemiBold</vt:lpstr>
      <vt:lpstr>Symbol</vt:lpstr>
      <vt:lpstr>Wingdings</vt:lpstr>
      <vt:lpstr>Master Blue</vt:lpstr>
      <vt:lpstr>Capabilities as a Solution against Tracking Across Android Apps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Tim Christmann</cp:lastModifiedBy>
  <cp:revision>258</cp:revision>
  <cp:lastPrinted>2019-01-24T12:24:00Z</cp:lastPrinted>
  <dcterms:created xsi:type="dcterms:W3CDTF">2018-02-14T09:31:25Z</dcterms:created>
  <dcterms:modified xsi:type="dcterms:W3CDTF">2025-07-10T08:25:45Z</dcterms:modified>
</cp:coreProperties>
</file>